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9200"/>
            <a:ext cx="8686800" cy="1933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0">
                <a:solidFill>
                  <a:srgbClr val="F4F1EA"/>
                </a:solidFill>
                <a:latin typeface="Archivo Black"/>
              </a:rPr>
              <a:t>PSI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05100"/>
            <a:ext cx="8686800" cy="466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9BA1AB"/>
                </a:solidFill>
                <a:latin typeface="Space Grotesk"/>
              </a:rPr>
              <a:t>population stability index, o termômetro de drift</a:t>
            </a:r>
          </a:p>
        </p:txBody>
      </p:sp>
      <p:pic>
        <p:nvPicPr>
          <p:cNvPr id="6" name="Picture 5" descr="verbete_p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5650"/>
            <a:ext cx="8915400" cy="476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8324850"/>
            <a:ext cx="86868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50" b="0">
                <a:solidFill>
                  <a:srgbClr val="F4F1EA"/>
                </a:solidFill>
                <a:latin typeface="Space Grotesk"/>
              </a:rPr>
              <a:t>Compara a distribuição do score de hoje com a da época do desenvolvimento: mede o quanto a população escorregou por baixo do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9620250"/>
            <a:ext cx="8686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BEF264"/>
                </a:solidFill>
                <a:latin typeface="Space Grotesk"/>
              </a:rPr>
              <a:t>Modelo não quebra com estrondo. A população muda em silêncio — e o score vira outro sem avisar.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0515600"/>
            <a:ext cx="8686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9BA1AB"/>
                </a:solidFill>
                <a:latin typeface="Space Grotesk"/>
              </a:rPr>
              <a:t>→ Comenta: de quanto em quanto tempo você olha o seu?</a:t>
            </a:r>
          </a:p>
        </p:txBody>
      </p:sp>
      <p:pic>
        <p:nvPicPr>
          <p:cNvPr id="10" name="Picture 9" descr="marca_gloss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