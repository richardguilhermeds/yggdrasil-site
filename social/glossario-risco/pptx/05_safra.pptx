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0E0F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0100" y="800100"/>
            <a:ext cx="8686800" cy="3524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BEF264"/>
                </a:solidFill>
                <a:latin typeface="Space Grotesk"/>
              </a:rPr>
              <a:t>GLOSSÁRIO DE RISCO — VERBETE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0100" y="1219200"/>
            <a:ext cx="8686800" cy="1933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0" b="0">
                <a:solidFill>
                  <a:srgbClr val="F4F1EA"/>
                </a:solidFill>
                <a:latin typeface="Archivo Black"/>
              </a:rPr>
              <a:t>SAFRA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100" y="2705100"/>
            <a:ext cx="8686800" cy="46672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50" b="0">
                <a:solidFill>
                  <a:srgbClr val="9BA1AB"/>
                </a:solidFill>
                <a:latin typeface="Space Grotesk"/>
              </a:rPr>
              <a:t>análise vintage, a carteira contada por geração</a:t>
            </a:r>
          </a:p>
        </p:txBody>
      </p:sp>
      <p:pic>
        <p:nvPicPr>
          <p:cNvPr id="6" name="Picture 5" descr="verbete_saf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295650"/>
            <a:ext cx="8915400" cy="5143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8705850"/>
            <a:ext cx="8686800" cy="121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250" b="0">
                <a:solidFill>
                  <a:srgbClr val="F4F1EA"/>
                </a:solidFill>
                <a:latin typeface="Space Grotesk"/>
              </a:rPr>
              <a:t>Cada mês de originação vira uma geração acompanhada separadamente: quanto da safra deu problema 3, 6, 12 meses após a concessão.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10001250"/>
            <a:ext cx="8686800" cy="838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BEF264"/>
                </a:solidFill>
                <a:latin typeface="Space Grotesk"/>
              </a:rPr>
              <a:t>Na média a carteira parece bem — até a safra ruim fazer aniversário. Média de carteira esconde geração problema.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10896600"/>
            <a:ext cx="8686800" cy="400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950" b="1">
                <a:solidFill>
                  <a:srgbClr val="9BA1AB"/>
                </a:solidFill>
                <a:latin typeface="Space Grotesk"/>
              </a:rPr>
              <a:t>→ Salva: é o primeiro gráfico quando a inadimplência “surpreende”.</a:t>
            </a:r>
          </a:p>
        </p:txBody>
      </p:sp>
      <p:pic>
        <p:nvPicPr>
          <p:cNvPr id="10" name="Picture 9" descr="marca_gloss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1658600"/>
            <a:ext cx="381000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52550" y="11715750"/>
            <a:ext cx="8134350" cy="323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BA1AB"/>
                </a:solidFill>
                <a:latin typeface="Space Grotesk"/>
              </a:rPr>
              <a:t>Richard Guilherme · ciência de dados &amp; risco de crédito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