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BEF264"/>
                </a:solidFill>
                <a:latin typeface="Space Grotesk"/>
              </a:rPr>
              <a:t>GLOSSÁRIO DE RISCO — VERBETE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19200"/>
            <a:ext cx="8686800" cy="1933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0" b="0">
                <a:solidFill>
                  <a:srgbClr val="F4F1EA"/>
                </a:solidFill>
                <a:latin typeface="Archivo Black"/>
              </a:rPr>
              <a:t>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705100"/>
            <a:ext cx="8686800" cy="466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>
                <a:solidFill>
                  <a:srgbClr val="9BA1AB"/>
                </a:solidFill>
                <a:latin typeface="Space Grotesk"/>
              </a:rPr>
              <a:t>probabilidade de default</a:t>
            </a:r>
          </a:p>
        </p:txBody>
      </p:sp>
      <p:pic>
        <p:nvPicPr>
          <p:cNvPr id="6" name="Picture 5" descr="verbete_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95650"/>
            <a:ext cx="8915400" cy="447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" y="8039100"/>
            <a:ext cx="8686800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50" b="0">
                <a:solidFill>
                  <a:srgbClr val="F4F1EA"/>
                </a:solidFill>
                <a:latin typeface="Space Grotesk"/>
              </a:rPr>
              <a:t>A chance de o cliente entrar em default dentro de um horizonte definido: 12 meses — ou a vida toda do contrato (lifetime, no mundo IFRS 9/4.966).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9334500"/>
            <a:ext cx="8686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BEF264"/>
                </a:solidFill>
                <a:latin typeface="Space Grotesk"/>
              </a:rPr>
              <a:t>PD de 2% não é “quase nunca”. É 1 em 50 — e o preço do crédito inteiro se apoia nesse número.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0229850"/>
            <a:ext cx="8686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9BA1AB"/>
                </a:solidFill>
                <a:latin typeface="Space Grotesk"/>
              </a:rPr>
              <a:t>→ Salva pra próxima vez que disserem “esse cliente não tem risco”.</a:t>
            </a:r>
          </a:p>
        </p:txBody>
      </p:sp>
      <p:pic>
        <p:nvPicPr>
          <p:cNvPr id="10" name="Picture 9" descr="marca_gloss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658600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50" y="11715750"/>
            <a:ext cx="81343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