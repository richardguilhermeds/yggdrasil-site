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619250"/>
            <a:ext cx="3810000" cy="2143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0" b="0">
                <a:solidFill>
                  <a:srgbClr val="9BA1AB"/>
                </a:solidFill>
                <a:latin typeface="Archivo Black"/>
              </a:rPr>
              <a:t>3,9%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314700"/>
            <a:ext cx="3619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0">
                <a:solidFill>
                  <a:srgbClr val="9BA1AB"/>
                </a:solidFill>
                <a:latin typeface="Space Grotesk"/>
              </a:rPr>
              <a:t>safras anteriores,
problema aos 10 meses</a:t>
            </a:r>
          </a:p>
        </p:txBody>
      </p:sp>
      <p:sp>
        <p:nvSpPr>
          <p:cNvPr id="6" name="Freeform 5"/>
          <p:cNvSpPr/>
          <p:nvPr/>
        </p:nvSpPr>
        <p:spPr>
          <a:xfrm>
            <a:off x="790575" y="5095875"/>
            <a:ext cx="3457575" cy="552450"/>
          </a:xfrm>
          <a:custGeom>
            <a:avLst/>
            <a:gdLst/>
            <a:ahLst/>
            <a:cxnLst/>
            <a:rect l="l" t="t" r="r" b="b"/>
            <a:pathLst>
              <a:path w="363" h="58">
                <a:moveTo>
                  <a:pt x="2" y="58"/>
                </a:moveTo>
                <a:lnTo>
                  <a:pt x="20" y="52"/>
                </a:lnTo>
                <a:lnTo>
                  <a:pt x="38" y="47"/>
                </a:lnTo>
                <a:lnTo>
                  <a:pt x="56" y="42"/>
                </a:lnTo>
                <a:lnTo>
                  <a:pt x="74" y="38"/>
                </a:lnTo>
                <a:lnTo>
                  <a:pt x="92" y="34"/>
                </a:lnTo>
                <a:lnTo>
                  <a:pt x="110" y="30"/>
                </a:lnTo>
                <a:lnTo>
                  <a:pt x="128" y="27"/>
                </a:lnTo>
                <a:lnTo>
                  <a:pt x="146" y="24"/>
                </a:lnTo>
                <a:lnTo>
                  <a:pt x="164" y="22"/>
                </a:lnTo>
                <a:lnTo>
                  <a:pt x="182" y="20"/>
                </a:lnTo>
                <a:lnTo>
                  <a:pt x="200" y="18"/>
                </a:lnTo>
                <a:lnTo>
                  <a:pt x="218" y="16"/>
                </a:lnTo>
                <a:lnTo>
                  <a:pt x="237" y="14"/>
                </a:lnTo>
                <a:lnTo>
                  <a:pt x="255" y="13"/>
                </a:lnTo>
                <a:lnTo>
                  <a:pt x="273" y="11"/>
                </a:lnTo>
                <a:lnTo>
                  <a:pt x="291" y="10"/>
                </a:lnTo>
                <a:lnTo>
                  <a:pt x="309" y="9"/>
                </a:lnTo>
                <a:lnTo>
                  <a:pt x="327" y="8"/>
                </a:lnTo>
                <a:lnTo>
                  <a:pt x="345" y="7"/>
                </a:lnTo>
                <a:lnTo>
                  <a:pt x="363" y="7"/>
                </a:lnTo>
                <a:lnTo>
                  <a:pt x="363" y="0"/>
                </a:lnTo>
                <a:lnTo>
                  <a:pt x="345" y="0"/>
                </a:lnTo>
                <a:lnTo>
                  <a:pt x="327" y="1"/>
                </a:lnTo>
                <a:lnTo>
                  <a:pt x="308" y="2"/>
                </a:lnTo>
                <a:lnTo>
                  <a:pt x="290" y="3"/>
                </a:lnTo>
                <a:lnTo>
                  <a:pt x="272" y="4"/>
                </a:lnTo>
                <a:lnTo>
                  <a:pt x="254" y="6"/>
                </a:lnTo>
                <a:lnTo>
                  <a:pt x="236" y="7"/>
                </a:lnTo>
                <a:lnTo>
                  <a:pt x="218" y="9"/>
                </a:lnTo>
                <a:lnTo>
                  <a:pt x="200" y="11"/>
                </a:lnTo>
                <a:lnTo>
                  <a:pt x="182" y="13"/>
                </a:lnTo>
                <a:lnTo>
                  <a:pt x="163" y="15"/>
                </a:lnTo>
                <a:lnTo>
                  <a:pt x="145" y="17"/>
                </a:lnTo>
                <a:lnTo>
                  <a:pt x="127" y="20"/>
                </a:lnTo>
                <a:lnTo>
                  <a:pt x="109" y="23"/>
                </a:lnTo>
                <a:lnTo>
                  <a:pt x="91" y="27"/>
                </a:lnTo>
                <a:lnTo>
                  <a:pt x="73" y="31"/>
                </a:lnTo>
                <a:lnTo>
                  <a:pt x="54" y="35"/>
                </a:lnTo>
                <a:lnTo>
                  <a:pt x="36" y="40"/>
                </a:lnTo>
                <a:lnTo>
                  <a:pt x="18" y="46"/>
                </a:lnTo>
                <a:lnTo>
                  <a:pt x="0" y="52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800" y="2286000"/>
            <a:ext cx="5334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6900" y="1619250"/>
            <a:ext cx="3810000" cy="2143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0" b="0">
                <a:solidFill>
                  <a:srgbClr val="BEF264"/>
                </a:solidFill>
                <a:latin typeface="Archivo Black"/>
              </a:rPr>
              <a:t>7,6%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6900" y="3314700"/>
            <a:ext cx="3619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0">
                <a:solidFill>
                  <a:srgbClr val="F4F1EA"/>
                </a:solidFill>
                <a:latin typeface="Space Grotesk"/>
              </a:rPr>
              <a:t>a safra nova, aos mesmos 10 meses</a:t>
            </a:r>
          </a:p>
        </p:txBody>
      </p:sp>
      <p:sp>
        <p:nvSpPr>
          <p:cNvPr id="10" name="Freeform 9"/>
          <p:cNvSpPr/>
          <p:nvPr/>
        </p:nvSpPr>
        <p:spPr>
          <a:xfrm>
            <a:off x="5657850" y="4610100"/>
            <a:ext cx="3467100" cy="1047750"/>
          </a:xfrm>
          <a:custGeom>
            <a:avLst/>
            <a:gdLst/>
            <a:ahLst/>
            <a:cxnLst/>
            <a:rect l="l" t="t" r="r" b="b"/>
            <a:pathLst>
              <a:path w="364" h="110">
                <a:moveTo>
                  <a:pt x="4" y="110"/>
                </a:moveTo>
                <a:lnTo>
                  <a:pt x="22" y="98"/>
                </a:lnTo>
                <a:lnTo>
                  <a:pt x="40" y="87"/>
                </a:lnTo>
                <a:lnTo>
                  <a:pt x="58" y="78"/>
                </a:lnTo>
                <a:lnTo>
                  <a:pt x="76" y="69"/>
                </a:lnTo>
                <a:lnTo>
                  <a:pt x="94" y="62"/>
                </a:lnTo>
                <a:lnTo>
                  <a:pt x="112" y="55"/>
                </a:lnTo>
                <a:lnTo>
                  <a:pt x="130" y="49"/>
                </a:lnTo>
                <a:lnTo>
                  <a:pt x="148" y="43"/>
                </a:lnTo>
                <a:lnTo>
                  <a:pt x="166" y="38"/>
                </a:lnTo>
                <a:lnTo>
                  <a:pt x="184" y="34"/>
                </a:lnTo>
                <a:lnTo>
                  <a:pt x="202" y="30"/>
                </a:lnTo>
                <a:lnTo>
                  <a:pt x="220" y="26"/>
                </a:lnTo>
                <a:lnTo>
                  <a:pt x="238" y="23"/>
                </a:lnTo>
                <a:lnTo>
                  <a:pt x="256" y="20"/>
                </a:lnTo>
                <a:lnTo>
                  <a:pt x="274" y="18"/>
                </a:lnTo>
                <a:lnTo>
                  <a:pt x="292" y="16"/>
                </a:lnTo>
                <a:lnTo>
                  <a:pt x="310" y="13"/>
                </a:lnTo>
                <a:lnTo>
                  <a:pt x="328" y="12"/>
                </a:lnTo>
                <a:lnTo>
                  <a:pt x="346" y="10"/>
                </a:lnTo>
                <a:lnTo>
                  <a:pt x="364" y="9"/>
                </a:lnTo>
                <a:lnTo>
                  <a:pt x="364" y="0"/>
                </a:lnTo>
                <a:lnTo>
                  <a:pt x="345" y="1"/>
                </a:lnTo>
                <a:lnTo>
                  <a:pt x="327" y="3"/>
                </a:lnTo>
                <a:lnTo>
                  <a:pt x="309" y="5"/>
                </a:lnTo>
                <a:lnTo>
                  <a:pt x="291" y="7"/>
                </a:lnTo>
                <a:lnTo>
                  <a:pt x="273" y="9"/>
                </a:lnTo>
                <a:lnTo>
                  <a:pt x="255" y="11"/>
                </a:lnTo>
                <a:lnTo>
                  <a:pt x="236" y="14"/>
                </a:lnTo>
                <a:lnTo>
                  <a:pt x="218" y="18"/>
                </a:lnTo>
                <a:lnTo>
                  <a:pt x="200" y="21"/>
                </a:lnTo>
                <a:lnTo>
                  <a:pt x="182" y="25"/>
                </a:lnTo>
                <a:lnTo>
                  <a:pt x="164" y="30"/>
                </a:lnTo>
                <a:lnTo>
                  <a:pt x="146" y="35"/>
                </a:lnTo>
                <a:lnTo>
                  <a:pt x="127" y="40"/>
                </a:lnTo>
                <a:lnTo>
                  <a:pt x="109" y="46"/>
                </a:lnTo>
                <a:lnTo>
                  <a:pt x="91" y="53"/>
                </a:lnTo>
                <a:lnTo>
                  <a:pt x="73" y="61"/>
                </a:lnTo>
                <a:lnTo>
                  <a:pt x="54" y="70"/>
                </a:lnTo>
                <a:lnTo>
                  <a:pt x="36" y="79"/>
                </a:lnTo>
                <a:lnTo>
                  <a:pt x="18" y="90"/>
                </a:lnTo>
                <a:lnTo>
                  <a:pt x="0" y="102"/>
                </a:lnTo>
                <a:close/>
              </a:path>
            </a:pathLst>
          </a:cu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" y="6172200"/>
            <a:ext cx="86868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65913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F4F1EA"/>
                </a:solidFill>
                <a:latin typeface="Archivo Black"/>
              </a:rPr>
              <a:t>SAFRA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75819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9BA1AB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80676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F4F1EA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92964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BEF264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01346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9BA1AB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