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D9482B"/>
                </a:solidFill>
                <a:latin typeface="Space Grotesk"/>
              </a:rPr>
              <a:t>GLOSSÁRIO DE RISCO — VERBETE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19200"/>
            <a:ext cx="868680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0">
                <a:solidFill>
                  <a:srgbClr val="17181C"/>
                </a:solidFill>
                <a:latin typeface="Archivo Black"/>
              </a:rPr>
              <a:t>SAFRA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62890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8A8578"/>
                </a:solidFill>
                <a:latin typeface="Space Grotesk"/>
              </a:rPr>
              <a:t>análise vintage, a carteira contada por geração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" y="5000625"/>
            <a:ext cx="8686800" cy="1905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" y="6191250"/>
            <a:ext cx="8686800" cy="1905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" y="7381875"/>
            <a:ext cx="8686800" cy="1905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81050" y="6257925"/>
            <a:ext cx="8467725" cy="2333625"/>
          </a:xfrm>
          <a:custGeom>
            <a:avLst/>
            <a:gdLst/>
            <a:ahLst/>
            <a:cxnLst/>
            <a:rect l="l" t="t" r="r" b="b"/>
            <a:pathLst>
              <a:path w="889" h="245">
                <a:moveTo>
                  <a:pt x="4" y="245"/>
                </a:moveTo>
                <a:lnTo>
                  <a:pt x="29" y="220"/>
                </a:lnTo>
                <a:lnTo>
                  <a:pt x="53" y="197"/>
                </a:lnTo>
                <a:lnTo>
                  <a:pt x="78" y="177"/>
                </a:lnTo>
                <a:lnTo>
                  <a:pt x="102" y="158"/>
                </a:lnTo>
                <a:lnTo>
                  <a:pt x="127" y="142"/>
                </a:lnTo>
                <a:lnTo>
                  <a:pt x="151" y="128"/>
                </a:lnTo>
                <a:lnTo>
                  <a:pt x="176" y="114"/>
                </a:lnTo>
                <a:lnTo>
                  <a:pt x="200" y="103"/>
                </a:lnTo>
                <a:lnTo>
                  <a:pt x="225" y="92"/>
                </a:lnTo>
                <a:lnTo>
                  <a:pt x="250" y="83"/>
                </a:lnTo>
                <a:lnTo>
                  <a:pt x="274" y="74"/>
                </a:lnTo>
                <a:lnTo>
                  <a:pt x="299" y="67"/>
                </a:lnTo>
                <a:lnTo>
                  <a:pt x="323" y="60"/>
                </a:lnTo>
                <a:lnTo>
                  <a:pt x="348" y="54"/>
                </a:lnTo>
                <a:lnTo>
                  <a:pt x="372" y="48"/>
                </a:lnTo>
                <a:lnTo>
                  <a:pt x="397" y="44"/>
                </a:lnTo>
                <a:lnTo>
                  <a:pt x="422" y="39"/>
                </a:lnTo>
                <a:lnTo>
                  <a:pt x="446" y="35"/>
                </a:lnTo>
                <a:lnTo>
                  <a:pt x="471" y="32"/>
                </a:lnTo>
                <a:lnTo>
                  <a:pt x="495" y="29"/>
                </a:lnTo>
                <a:lnTo>
                  <a:pt x="520" y="26"/>
                </a:lnTo>
                <a:lnTo>
                  <a:pt x="545" y="23"/>
                </a:lnTo>
                <a:lnTo>
                  <a:pt x="569" y="21"/>
                </a:lnTo>
                <a:lnTo>
                  <a:pt x="594" y="19"/>
                </a:lnTo>
                <a:lnTo>
                  <a:pt x="618" y="17"/>
                </a:lnTo>
                <a:lnTo>
                  <a:pt x="643" y="16"/>
                </a:lnTo>
                <a:lnTo>
                  <a:pt x="668" y="14"/>
                </a:lnTo>
                <a:lnTo>
                  <a:pt x="692" y="13"/>
                </a:lnTo>
                <a:lnTo>
                  <a:pt x="717" y="12"/>
                </a:lnTo>
                <a:lnTo>
                  <a:pt x="742" y="11"/>
                </a:lnTo>
                <a:lnTo>
                  <a:pt x="766" y="10"/>
                </a:lnTo>
                <a:lnTo>
                  <a:pt x="791" y="9"/>
                </a:lnTo>
                <a:lnTo>
                  <a:pt x="815" y="8"/>
                </a:lnTo>
                <a:lnTo>
                  <a:pt x="840" y="7"/>
                </a:lnTo>
                <a:lnTo>
                  <a:pt x="865" y="7"/>
                </a:lnTo>
                <a:lnTo>
                  <a:pt x="889" y="6"/>
                </a:lnTo>
                <a:lnTo>
                  <a:pt x="889" y="0"/>
                </a:lnTo>
                <a:lnTo>
                  <a:pt x="865" y="1"/>
                </a:lnTo>
                <a:lnTo>
                  <a:pt x="840" y="1"/>
                </a:lnTo>
                <a:lnTo>
                  <a:pt x="815" y="2"/>
                </a:lnTo>
                <a:lnTo>
                  <a:pt x="791" y="3"/>
                </a:lnTo>
                <a:lnTo>
                  <a:pt x="766" y="4"/>
                </a:lnTo>
                <a:lnTo>
                  <a:pt x="741" y="5"/>
                </a:lnTo>
                <a:lnTo>
                  <a:pt x="717" y="6"/>
                </a:lnTo>
                <a:lnTo>
                  <a:pt x="692" y="7"/>
                </a:lnTo>
                <a:lnTo>
                  <a:pt x="667" y="8"/>
                </a:lnTo>
                <a:lnTo>
                  <a:pt x="643" y="10"/>
                </a:lnTo>
                <a:lnTo>
                  <a:pt x="618" y="11"/>
                </a:lnTo>
                <a:lnTo>
                  <a:pt x="593" y="13"/>
                </a:lnTo>
                <a:lnTo>
                  <a:pt x="569" y="15"/>
                </a:lnTo>
                <a:lnTo>
                  <a:pt x="544" y="17"/>
                </a:lnTo>
                <a:lnTo>
                  <a:pt x="519" y="20"/>
                </a:lnTo>
                <a:lnTo>
                  <a:pt x="495" y="23"/>
                </a:lnTo>
                <a:lnTo>
                  <a:pt x="470" y="26"/>
                </a:lnTo>
                <a:lnTo>
                  <a:pt x="445" y="29"/>
                </a:lnTo>
                <a:lnTo>
                  <a:pt x="421" y="33"/>
                </a:lnTo>
                <a:lnTo>
                  <a:pt x="396" y="38"/>
                </a:lnTo>
                <a:lnTo>
                  <a:pt x="371" y="43"/>
                </a:lnTo>
                <a:lnTo>
                  <a:pt x="346" y="48"/>
                </a:lnTo>
                <a:lnTo>
                  <a:pt x="322" y="54"/>
                </a:lnTo>
                <a:lnTo>
                  <a:pt x="297" y="61"/>
                </a:lnTo>
                <a:lnTo>
                  <a:pt x="272" y="69"/>
                </a:lnTo>
                <a:lnTo>
                  <a:pt x="247" y="77"/>
                </a:lnTo>
                <a:lnTo>
                  <a:pt x="223" y="87"/>
                </a:lnTo>
                <a:lnTo>
                  <a:pt x="198" y="97"/>
                </a:lnTo>
                <a:lnTo>
                  <a:pt x="173" y="109"/>
                </a:lnTo>
                <a:lnTo>
                  <a:pt x="148" y="122"/>
                </a:lnTo>
                <a:lnTo>
                  <a:pt x="124" y="137"/>
                </a:lnTo>
                <a:lnTo>
                  <a:pt x="99" y="154"/>
                </a:lnTo>
                <a:lnTo>
                  <a:pt x="74" y="172"/>
                </a:lnTo>
                <a:lnTo>
                  <a:pt x="49" y="192"/>
                </a:lnTo>
                <a:lnTo>
                  <a:pt x="25" y="215"/>
                </a:lnTo>
                <a:lnTo>
                  <a:pt x="0" y="241"/>
                </a:lnTo>
                <a:close/>
              </a:path>
            </a:pathLst>
          </a:cu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781050" y="6572250"/>
            <a:ext cx="8467725" cy="2019300"/>
          </a:xfrm>
          <a:custGeom>
            <a:avLst/>
            <a:gdLst/>
            <a:ahLst/>
            <a:cxnLst/>
            <a:rect l="l" t="t" r="r" b="b"/>
            <a:pathLst>
              <a:path w="889" h="212">
                <a:moveTo>
                  <a:pt x="4" y="212"/>
                </a:moveTo>
                <a:lnTo>
                  <a:pt x="29" y="190"/>
                </a:lnTo>
                <a:lnTo>
                  <a:pt x="53" y="171"/>
                </a:lnTo>
                <a:lnTo>
                  <a:pt x="78" y="153"/>
                </a:lnTo>
                <a:lnTo>
                  <a:pt x="102" y="137"/>
                </a:lnTo>
                <a:lnTo>
                  <a:pt x="127" y="123"/>
                </a:lnTo>
                <a:lnTo>
                  <a:pt x="151" y="111"/>
                </a:lnTo>
                <a:lnTo>
                  <a:pt x="176" y="99"/>
                </a:lnTo>
                <a:lnTo>
                  <a:pt x="200" y="89"/>
                </a:lnTo>
                <a:lnTo>
                  <a:pt x="225" y="80"/>
                </a:lnTo>
                <a:lnTo>
                  <a:pt x="249" y="72"/>
                </a:lnTo>
                <a:lnTo>
                  <a:pt x="274" y="65"/>
                </a:lnTo>
                <a:lnTo>
                  <a:pt x="299" y="58"/>
                </a:lnTo>
                <a:lnTo>
                  <a:pt x="323" y="52"/>
                </a:lnTo>
                <a:lnTo>
                  <a:pt x="348" y="47"/>
                </a:lnTo>
                <a:lnTo>
                  <a:pt x="372" y="42"/>
                </a:lnTo>
                <a:lnTo>
                  <a:pt x="397" y="38"/>
                </a:lnTo>
                <a:lnTo>
                  <a:pt x="421" y="34"/>
                </a:lnTo>
                <a:lnTo>
                  <a:pt x="446" y="31"/>
                </a:lnTo>
                <a:lnTo>
                  <a:pt x="471" y="28"/>
                </a:lnTo>
                <a:lnTo>
                  <a:pt x="495" y="25"/>
                </a:lnTo>
                <a:lnTo>
                  <a:pt x="520" y="23"/>
                </a:lnTo>
                <a:lnTo>
                  <a:pt x="545" y="21"/>
                </a:lnTo>
                <a:lnTo>
                  <a:pt x="569" y="19"/>
                </a:lnTo>
                <a:lnTo>
                  <a:pt x="594" y="17"/>
                </a:lnTo>
                <a:lnTo>
                  <a:pt x="618" y="15"/>
                </a:lnTo>
                <a:lnTo>
                  <a:pt x="643" y="14"/>
                </a:lnTo>
                <a:lnTo>
                  <a:pt x="668" y="13"/>
                </a:lnTo>
                <a:lnTo>
                  <a:pt x="692" y="12"/>
                </a:lnTo>
                <a:lnTo>
                  <a:pt x="717" y="11"/>
                </a:lnTo>
                <a:lnTo>
                  <a:pt x="742" y="10"/>
                </a:lnTo>
                <a:lnTo>
                  <a:pt x="766" y="9"/>
                </a:lnTo>
                <a:lnTo>
                  <a:pt x="791" y="8"/>
                </a:lnTo>
                <a:lnTo>
                  <a:pt x="815" y="7"/>
                </a:lnTo>
                <a:lnTo>
                  <a:pt x="840" y="7"/>
                </a:lnTo>
                <a:lnTo>
                  <a:pt x="865" y="6"/>
                </a:lnTo>
                <a:lnTo>
                  <a:pt x="889" y="6"/>
                </a:lnTo>
                <a:lnTo>
                  <a:pt x="889" y="0"/>
                </a:lnTo>
                <a:lnTo>
                  <a:pt x="865" y="0"/>
                </a:lnTo>
                <a:lnTo>
                  <a:pt x="840" y="1"/>
                </a:lnTo>
                <a:lnTo>
                  <a:pt x="815" y="1"/>
                </a:lnTo>
                <a:lnTo>
                  <a:pt x="791" y="2"/>
                </a:lnTo>
                <a:lnTo>
                  <a:pt x="766" y="3"/>
                </a:lnTo>
                <a:lnTo>
                  <a:pt x="741" y="4"/>
                </a:lnTo>
                <a:lnTo>
                  <a:pt x="717" y="5"/>
                </a:lnTo>
                <a:lnTo>
                  <a:pt x="692" y="6"/>
                </a:lnTo>
                <a:lnTo>
                  <a:pt x="667" y="7"/>
                </a:lnTo>
                <a:lnTo>
                  <a:pt x="643" y="8"/>
                </a:lnTo>
                <a:lnTo>
                  <a:pt x="618" y="9"/>
                </a:lnTo>
                <a:lnTo>
                  <a:pt x="593" y="11"/>
                </a:lnTo>
                <a:lnTo>
                  <a:pt x="569" y="13"/>
                </a:lnTo>
                <a:lnTo>
                  <a:pt x="544" y="15"/>
                </a:lnTo>
                <a:lnTo>
                  <a:pt x="519" y="17"/>
                </a:lnTo>
                <a:lnTo>
                  <a:pt x="495" y="19"/>
                </a:lnTo>
                <a:lnTo>
                  <a:pt x="470" y="22"/>
                </a:lnTo>
                <a:lnTo>
                  <a:pt x="445" y="25"/>
                </a:lnTo>
                <a:lnTo>
                  <a:pt x="421" y="28"/>
                </a:lnTo>
                <a:lnTo>
                  <a:pt x="396" y="32"/>
                </a:lnTo>
                <a:lnTo>
                  <a:pt x="371" y="36"/>
                </a:lnTo>
                <a:lnTo>
                  <a:pt x="346" y="41"/>
                </a:lnTo>
                <a:lnTo>
                  <a:pt x="322" y="46"/>
                </a:lnTo>
                <a:lnTo>
                  <a:pt x="297" y="52"/>
                </a:lnTo>
                <a:lnTo>
                  <a:pt x="272" y="59"/>
                </a:lnTo>
                <a:lnTo>
                  <a:pt x="248" y="66"/>
                </a:lnTo>
                <a:lnTo>
                  <a:pt x="223" y="75"/>
                </a:lnTo>
                <a:lnTo>
                  <a:pt x="198" y="84"/>
                </a:lnTo>
                <a:lnTo>
                  <a:pt x="173" y="94"/>
                </a:lnTo>
                <a:lnTo>
                  <a:pt x="149" y="105"/>
                </a:lnTo>
                <a:lnTo>
                  <a:pt x="124" y="118"/>
                </a:lnTo>
                <a:lnTo>
                  <a:pt x="99" y="132"/>
                </a:lnTo>
                <a:lnTo>
                  <a:pt x="74" y="148"/>
                </a:lnTo>
                <a:lnTo>
                  <a:pt x="49" y="166"/>
                </a:lnTo>
                <a:lnTo>
                  <a:pt x="25" y="186"/>
                </a:lnTo>
                <a:lnTo>
                  <a:pt x="0" y="208"/>
                </a:lnTo>
                <a:close/>
              </a:path>
            </a:pathLst>
          </a:cu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781050" y="6000750"/>
            <a:ext cx="8467725" cy="2590800"/>
          </a:xfrm>
          <a:custGeom>
            <a:avLst/>
            <a:gdLst/>
            <a:ahLst/>
            <a:cxnLst/>
            <a:rect l="l" t="t" r="r" b="b"/>
            <a:pathLst>
              <a:path w="889" h="272">
                <a:moveTo>
                  <a:pt x="4" y="272"/>
                </a:moveTo>
                <a:lnTo>
                  <a:pt x="29" y="244"/>
                </a:lnTo>
                <a:lnTo>
                  <a:pt x="53" y="218"/>
                </a:lnTo>
                <a:lnTo>
                  <a:pt x="78" y="196"/>
                </a:lnTo>
                <a:lnTo>
                  <a:pt x="102" y="175"/>
                </a:lnTo>
                <a:lnTo>
                  <a:pt x="127" y="157"/>
                </a:lnTo>
                <a:lnTo>
                  <a:pt x="151" y="141"/>
                </a:lnTo>
                <a:lnTo>
                  <a:pt x="176" y="126"/>
                </a:lnTo>
                <a:lnTo>
                  <a:pt x="201" y="113"/>
                </a:lnTo>
                <a:lnTo>
                  <a:pt x="225" y="102"/>
                </a:lnTo>
                <a:lnTo>
                  <a:pt x="250" y="91"/>
                </a:lnTo>
                <a:lnTo>
                  <a:pt x="274" y="82"/>
                </a:lnTo>
                <a:lnTo>
                  <a:pt x="299" y="73"/>
                </a:lnTo>
                <a:lnTo>
                  <a:pt x="323" y="66"/>
                </a:lnTo>
                <a:lnTo>
                  <a:pt x="348" y="59"/>
                </a:lnTo>
                <a:lnTo>
                  <a:pt x="372" y="53"/>
                </a:lnTo>
                <a:lnTo>
                  <a:pt x="397" y="48"/>
                </a:lnTo>
                <a:lnTo>
                  <a:pt x="422" y="43"/>
                </a:lnTo>
                <a:lnTo>
                  <a:pt x="446" y="38"/>
                </a:lnTo>
                <a:lnTo>
                  <a:pt x="471" y="34"/>
                </a:lnTo>
                <a:lnTo>
                  <a:pt x="495" y="31"/>
                </a:lnTo>
                <a:lnTo>
                  <a:pt x="520" y="28"/>
                </a:lnTo>
                <a:lnTo>
                  <a:pt x="545" y="25"/>
                </a:lnTo>
                <a:lnTo>
                  <a:pt x="569" y="22"/>
                </a:lnTo>
                <a:lnTo>
                  <a:pt x="594" y="20"/>
                </a:lnTo>
                <a:lnTo>
                  <a:pt x="618" y="18"/>
                </a:lnTo>
                <a:lnTo>
                  <a:pt x="643" y="16"/>
                </a:lnTo>
                <a:lnTo>
                  <a:pt x="668" y="15"/>
                </a:lnTo>
                <a:lnTo>
                  <a:pt x="692" y="13"/>
                </a:lnTo>
                <a:lnTo>
                  <a:pt x="717" y="12"/>
                </a:lnTo>
                <a:lnTo>
                  <a:pt x="742" y="11"/>
                </a:lnTo>
                <a:lnTo>
                  <a:pt x="766" y="10"/>
                </a:lnTo>
                <a:lnTo>
                  <a:pt x="791" y="9"/>
                </a:lnTo>
                <a:lnTo>
                  <a:pt x="816" y="8"/>
                </a:lnTo>
                <a:lnTo>
                  <a:pt x="840" y="7"/>
                </a:lnTo>
                <a:lnTo>
                  <a:pt x="865" y="7"/>
                </a:lnTo>
                <a:lnTo>
                  <a:pt x="889" y="6"/>
                </a:lnTo>
                <a:lnTo>
                  <a:pt x="889" y="0"/>
                </a:lnTo>
                <a:lnTo>
                  <a:pt x="865" y="1"/>
                </a:lnTo>
                <a:lnTo>
                  <a:pt x="840" y="1"/>
                </a:lnTo>
                <a:lnTo>
                  <a:pt x="815" y="2"/>
                </a:lnTo>
                <a:lnTo>
                  <a:pt x="791" y="3"/>
                </a:lnTo>
                <a:lnTo>
                  <a:pt x="766" y="4"/>
                </a:lnTo>
                <a:lnTo>
                  <a:pt x="741" y="5"/>
                </a:lnTo>
                <a:lnTo>
                  <a:pt x="717" y="6"/>
                </a:lnTo>
                <a:lnTo>
                  <a:pt x="692" y="7"/>
                </a:lnTo>
                <a:lnTo>
                  <a:pt x="667" y="9"/>
                </a:lnTo>
                <a:lnTo>
                  <a:pt x="643" y="10"/>
                </a:lnTo>
                <a:lnTo>
                  <a:pt x="618" y="12"/>
                </a:lnTo>
                <a:lnTo>
                  <a:pt x="593" y="14"/>
                </a:lnTo>
                <a:lnTo>
                  <a:pt x="569" y="16"/>
                </a:lnTo>
                <a:lnTo>
                  <a:pt x="544" y="19"/>
                </a:lnTo>
                <a:lnTo>
                  <a:pt x="519" y="22"/>
                </a:lnTo>
                <a:lnTo>
                  <a:pt x="495" y="25"/>
                </a:lnTo>
                <a:lnTo>
                  <a:pt x="470" y="28"/>
                </a:lnTo>
                <a:lnTo>
                  <a:pt x="445" y="32"/>
                </a:lnTo>
                <a:lnTo>
                  <a:pt x="420" y="37"/>
                </a:lnTo>
                <a:lnTo>
                  <a:pt x="396" y="42"/>
                </a:lnTo>
                <a:lnTo>
                  <a:pt x="371" y="47"/>
                </a:lnTo>
                <a:lnTo>
                  <a:pt x="346" y="53"/>
                </a:lnTo>
                <a:lnTo>
                  <a:pt x="322" y="60"/>
                </a:lnTo>
                <a:lnTo>
                  <a:pt x="297" y="68"/>
                </a:lnTo>
                <a:lnTo>
                  <a:pt x="272" y="76"/>
                </a:lnTo>
                <a:lnTo>
                  <a:pt x="247" y="86"/>
                </a:lnTo>
                <a:lnTo>
                  <a:pt x="223" y="96"/>
                </a:lnTo>
                <a:lnTo>
                  <a:pt x="198" y="108"/>
                </a:lnTo>
                <a:lnTo>
                  <a:pt x="173" y="121"/>
                </a:lnTo>
                <a:lnTo>
                  <a:pt x="148" y="136"/>
                </a:lnTo>
                <a:lnTo>
                  <a:pt x="124" y="152"/>
                </a:lnTo>
                <a:lnTo>
                  <a:pt x="99" y="171"/>
                </a:lnTo>
                <a:lnTo>
                  <a:pt x="74" y="191"/>
                </a:lnTo>
                <a:lnTo>
                  <a:pt x="49" y="214"/>
                </a:lnTo>
                <a:lnTo>
                  <a:pt x="24" y="240"/>
                </a:lnTo>
                <a:lnTo>
                  <a:pt x="0" y="268"/>
                </a:lnTo>
                <a:close/>
              </a:path>
            </a:pathLst>
          </a:cu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62000" y="4476750"/>
            <a:ext cx="4743450" cy="4114800"/>
          </a:xfrm>
          <a:custGeom>
            <a:avLst/>
            <a:gdLst/>
            <a:ahLst/>
            <a:cxnLst/>
            <a:rect l="l" t="t" r="r" b="b"/>
            <a:pathLst>
              <a:path w="498" h="432">
                <a:moveTo>
                  <a:pt x="8" y="432"/>
                </a:moveTo>
                <a:lnTo>
                  <a:pt x="33" y="383"/>
                </a:lnTo>
                <a:lnTo>
                  <a:pt x="58" y="338"/>
                </a:lnTo>
                <a:lnTo>
                  <a:pt x="82" y="298"/>
                </a:lnTo>
                <a:lnTo>
                  <a:pt x="107" y="263"/>
                </a:lnTo>
                <a:lnTo>
                  <a:pt x="131" y="231"/>
                </a:lnTo>
                <a:lnTo>
                  <a:pt x="156" y="203"/>
                </a:lnTo>
                <a:lnTo>
                  <a:pt x="180" y="177"/>
                </a:lnTo>
                <a:lnTo>
                  <a:pt x="205" y="154"/>
                </a:lnTo>
                <a:lnTo>
                  <a:pt x="229" y="134"/>
                </a:lnTo>
                <a:lnTo>
                  <a:pt x="253" y="115"/>
                </a:lnTo>
                <a:lnTo>
                  <a:pt x="278" y="99"/>
                </a:lnTo>
                <a:lnTo>
                  <a:pt x="302" y="84"/>
                </a:lnTo>
                <a:lnTo>
                  <a:pt x="327" y="71"/>
                </a:lnTo>
                <a:lnTo>
                  <a:pt x="351" y="59"/>
                </a:lnTo>
                <a:lnTo>
                  <a:pt x="376" y="49"/>
                </a:lnTo>
                <a:lnTo>
                  <a:pt x="400" y="39"/>
                </a:lnTo>
                <a:lnTo>
                  <a:pt x="425" y="31"/>
                </a:lnTo>
                <a:lnTo>
                  <a:pt x="449" y="23"/>
                </a:lnTo>
                <a:lnTo>
                  <a:pt x="474" y="16"/>
                </a:lnTo>
                <a:lnTo>
                  <a:pt x="498" y="10"/>
                </a:lnTo>
                <a:lnTo>
                  <a:pt x="496" y="0"/>
                </a:lnTo>
                <a:lnTo>
                  <a:pt x="471" y="6"/>
                </a:lnTo>
                <a:lnTo>
                  <a:pt x="446" y="13"/>
                </a:lnTo>
                <a:lnTo>
                  <a:pt x="421" y="21"/>
                </a:lnTo>
                <a:lnTo>
                  <a:pt x="397" y="30"/>
                </a:lnTo>
                <a:lnTo>
                  <a:pt x="372" y="39"/>
                </a:lnTo>
                <a:lnTo>
                  <a:pt x="347" y="50"/>
                </a:lnTo>
                <a:lnTo>
                  <a:pt x="322" y="62"/>
                </a:lnTo>
                <a:lnTo>
                  <a:pt x="297" y="76"/>
                </a:lnTo>
                <a:lnTo>
                  <a:pt x="272" y="90"/>
                </a:lnTo>
                <a:lnTo>
                  <a:pt x="248" y="107"/>
                </a:lnTo>
                <a:lnTo>
                  <a:pt x="223" y="126"/>
                </a:lnTo>
                <a:lnTo>
                  <a:pt x="198" y="147"/>
                </a:lnTo>
                <a:lnTo>
                  <a:pt x="173" y="170"/>
                </a:lnTo>
                <a:lnTo>
                  <a:pt x="148" y="196"/>
                </a:lnTo>
                <a:lnTo>
                  <a:pt x="123" y="225"/>
                </a:lnTo>
                <a:lnTo>
                  <a:pt x="99" y="257"/>
                </a:lnTo>
                <a:lnTo>
                  <a:pt x="74" y="293"/>
                </a:lnTo>
                <a:lnTo>
                  <a:pt x="49" y="333"/>
                </a:lnTo>
                <a:lnTo>
                  <a:pt x="24" y="378"/>
                </a:lnTo>
                <a:lnTo>
                  <a:pt x="0" y="428"/>
                </a:lnTo>
                <a:close/>
              </a:path>
            </a:pathLst>
          </a:cu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" y="8572500"/>
            <a:ext cx="8686800" cy="1905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8743950"/>
            <a:ext cx="2857500" cy="333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75" b="0">
                <a:solidFill>
                  <a:srgbClr val="8A8578"/>
                </a:solidFill>
                <a:latin typeface="Space Grotesk"/>
              </a:rPr>
              <a:t>originação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8743950"/>
            <a:ext cx="2857500" cy="333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575" b="0">
                <a:solidFill>
                  <a:srgbClr val="8A8578"/>
                </a:solidFill>
                <a:latin typeface="Space Grotesk"/>
              </a:rPr>
              <a:t>18 meses</a:t>
            </a:r>
          </a:p>
        </p:txBody>
      </p:sp>
      <p:sp>
        <p:nvSpPr>
          <p:cNvPr id="16" name="Oval 15"/>
          <p:cNvSpPr/>
          <p:nvPr/>
        </p:nvSpPr>
        <p:spPr>
          <a:xfrm>
            <a:off x="4752717" y="4030613"/>
            <a:ext cx="1485900" cy="990600"/>
          </a:xfrm>
          <a:prstGeom prst="ellipse">
            <a:avLst/>
          </a:prstGeom>
          <a:noFill/>
          <a:ln w="38100">
            <a:solidFill>
              <a:srgbClr val="D948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0" y="2857500"/>
            <a:ext cx="4000500" cy="10382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50" b="0">
                <a:solidFill>
                  <a:srgbClr val="D9482B"/>
                </a:solidFill>
                <a:latin typeface="Caveat"/>
              </a:rPr>
              <a:t>ainda jovem, e já pior que todo mundo</a:t>
            </a:r>
          </a:p>
        </p:txBody>
      </p:sp>
      <p:sp>
        <p:nvSpPr>
          <p:cNvPr id="18" name="Freeform 17"/>
          <p:cNvSpPr/>
          <p:nvPr/>
        </p:nvSpPr>
        <p:spPr>
          <a:xfrm>
            <a:off x="5915025" y="3714750"/>
            <a:ext cx="762000" cy="419100"/>
          </a:xfrm>
          <a:custGeom>
            <a:avLst/>
            <a:gdLst/>
            <a:ahLst/>
            <a:cxnLst/>
            <a:rect l="l" t="t" r="r" b="b"/>
            <a:pathLst>
              <a:path w="80" h="44">
                <a:moveTo>
                  <a:pt x="78" y="0"/>
                </a:moveTo>
                <a:lnTo>
                  <a:pt x="38" y="18"/>
                </a:lnTo>
                <a:lnTo>
                  <a:pt x="0" y="40"/>
                </a:lnTo>
                <a:lnTo>
                  <a:pt x="2" y="44"/>
                </a:lnTo>
                <a:lnTo>
                  <a:pt x="40" y="22"/>
                </a:lnTo>
                <a:lnTo>
                  <a:pt x="80" y="4"/>
                </a:lnTo>
                <a:close/>
              </a:path>
            </a:pathLst>
          </a:cu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829300" y="4010025"/>
            <a:ext cx="209550" cy="200025"/>
          </a:xfrm>
          <a:custGeom>
            <a:avLst/>
            <a:gdLst/>
            <a:ahLst/>
            <a:cxnLst/>
            <a:rect l="l" t="t" r="r" b="b"/>
            <a:pathLst>
              <a:path w="22" h="21">
                <a:moveTo>
                  <a:pt x="16" y="21"/>
                </a:moveTo>
                <a:lnTo>
                  <a:pt x="0" y="5"/>
                </a:lnTo>
                <a:lnTo>
                  <a:pt x="22" y="0"/>
                </a:lnTo>
                <a:close/>
              </a:path>
            </a:pathLst>
          </a:cu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" y="9182100"/>
            <a:ext cx="8686800" cy="1190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0">
                <a:solidFill>
                  <a:srgbClr val="17181C"/>
                </a:solidFill>
                <a:latin typeface="Space Grotesk"/>
              </a:rPr>
              <a:t>Cada mês de originação vira uma geração acompanhada separadamente: quanto da safra deu problema 3, 6, 12 meses após a concessão.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0391775"/>
            <a:ext cx="8686800" cy="733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50" b="0">
                <a:solidFill>
                  <a:srgbClr val="D9482B"/>
                </a:solidFill>
                <a:latin typeface="Caveat"/>
              </a:rPr>
              <a:t>na média parece tudo bem. a média mente.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11020425"/>
            <a:ext cx="868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17181C"/>
                </a:solidFill>
                <a:latin typeface="Space Grotesk"/>
              </a:rPr>
              <a:t>→ Salva: é o primeiro gráfico quando a inadimplência “surpreende”.</a:t>
            </a:r>
          </a:p>
        </p:txBody>
      </p:sp>
      <p:sp>
        <p:nvSpPr>
          <p:cNvPr id="23" name="Oval 22"/>
          <p:cNvSpPr/>
          <p:nvPr/>
        </p:nvSpPr>
        <p:spPr>
          <a:xfrm>
            <a:off x="800100" y="11734800"/>
            <a:ext cx="104775" cy="104775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0100" y="11925300"/>
            <a:ext cx="104775" cy="104775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600" y="117348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0600" y="119253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04950" y="11753850"/>
            <a:ext cx="7981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8A8578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