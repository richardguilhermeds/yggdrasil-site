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E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476750" y="0"/>
            <a:ext cx="5810250" cy="12858750"/>
          </a:xfrm>
          <a:prstGeom prst="rect">
            <a:avLst/>
          </a:prstGeom>
          <a:solidFill>
            <a:srgbClr val="17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100" y="800100"/>
            <a:ext cx="3238500" cy="619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25" b="1">
                <a:solidFill>
                  <a:srgbClr val="BEF264"/>
                </a:solidFill>
                <a:latin typeface="Space Grotesk"/>
              </a:rPr>
              <a:t>GLOSSÁRIO DE RISCO — VERBETE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1733550"/>
            <a:ext cx="2857500" cy="3467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1100" b="0">
                <a:solidFill>
                  <a:srgbClr val="F4F1EA"/>
                </a:solidFill>
                <a:latin typeface="Archivo Black"/>
              </a:rPr>
              <a:t>SA FRA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4629150"/>
            <a:ext cx="3238500" cy="742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50" b="0">
                <a:solidFill>
                  <a:srgbClr val="9BA1AB"/>
                </a:solidFill>
                <a:latin typeface="Space Grotesk"/>
              </a:rPr>
              <a:t>análise vintage, a carteira contada por geração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5467350"/>
            <a:ext cx="3238500" cy="2047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50" b="0">
                <a:solidFill>
                  <a:srgbClr val="F4F1EA"/>
                </a:solidFill>
                <a:latin typeface="Space Grotesk"/>
              </a:rPr>
              <a:t>Cada mês de originação vira uma geração acompanhada separadamente: quanto da safra deu problema 3, 6, 12 meses após a concessão.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7562850"/>
            <a:ext cx="3238500" cy="1704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50" b="1">
                <a:solidFill>
                  <a:srgbClr val="BEF264"/>
                </a:solidFill>
                <a:latin typeface="Space Grotesk"/>
              </a:rPr>
              <a:t>Na média a carteira parece bem — até a safra ruim fazer aniversário. Média de carteira esconde geração problema.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9324975"/>
            <a:ext cx="3238500" cy="361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25" b="1">
                <a:solidFill>
                  <a:srgbClr val="9BA1AB"/>
                </a:solidFill>
                <a:latin typeface="Space Grotesk"/>
              </a:rPr>
              <a:t>→ Salva pra depois.</a:t>
            </a:r>
          </a:p>
        </p:txBody>
      </p:sp>
      <p:sp>
        <p:nvSpPr>
          <p:cNvPr id="10" name="Oval 9"/>
          <p:cNvSpPr/>
          <p:nvPr/>
        </p:nvSpPr>
        <p:spPr>
          <a:xfrm>
            <a:off x="800100" y="11734800"/>
            <a:ext cx="104775" cy="104775"/>
          </a:xfrm>
          <a:prstGeom prst="ellipse">
            <a:avLst/>
          </a:prstGeom>
          <a:solidFill>
            <a:srgbClr val="BEF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0100" y="11925300"/>
            <a:ext cx="104775" cy="104775"/>
          </a:xfrm>
          <a:prstGeom prst="ellipse">
            <a:avLst/>
          </a:prstGeom>
          <a:solidFill>
            <a:srgbClr val="BEF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0600" y="11734800"/>
            <a:ext cx="323850" cy="104775"/>
          </a:xfrm>
          <a:prstGeom prst="roundRect">
            <a:avLst>
              <a:gd name="adj" fmla="val 45454"/>
            </a:avLst>
          </a:prstGeom>
          <a:solidFill>
            <a:srgbClr val="BEF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90600" y="11925300"/>
            <a:ext cx="323850" cy="104775"/>
          </a:xfrm>
          <a:prstGeom prst="roundRect">
            <a:avLst>
              <a:gd name="adj" fmla="val 45454"/>
            </a:avLst>
          </a:prstGeom>
          <a:solidFill>
            <a:srgbClr val="BEF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4950" y="11811000"/>
            <a:ext cx="2533650" cy="361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25" b="0">
                <a:solidFill>
                  <a:srgbClr val="9BA1AB"/>
                </a:solidFill>
                <a:latin typeface="Space Grotesk"/>
              </a:rPr>
              <a:t>Richard Guilherme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150" y="800100"/>
            <a:ext cx="474345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0">
                <a:solidFill>
                  <a:srgbClr val="BEF264"/>
                </a:solidFill>
                <a:latin typeface="Archivo Black"/>
              </a:rPr>
              <a:t>7,6%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150" y="1866900"/>
            <a:ext cx="4743450" cy="70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9BA1AB"/>
                </a:solidFill>
                <a:latin typeface="Space Grotesk"/>
              </a:rPr>
              <a:t>da safra nova já com problema aos 10 meses — o triplo das anteriores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10150" y="4857750"/>
            <a:ext cx="4743450" cy="19050"/>
          </a:xfrm>
          <a:prstGeom prst="rect">
            <a:avLst/>
          </a:prstGeom>
          <a:solidFill>
            <a:srgbClr val="20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10150" y="6667500"/>
            <a:ext cx="4743450" cy="19050"/>
          </a:xfrm>
          <a:prstGeom prst="rect">
            <a:avLst/>
          </a:prstGeom>
          <a:solidFill>
            <a:srgbClr val="20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10150" y="8477250"/>
            <a:ext cx="4743450" cy="19050"/>
          </a:xfrm>
          <a:prstGeom prst="rect">
            <a:avLst/>
          </a:prstGeom>
          <a:solidFill>
            <a:srgbClr val="20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4981575" y="6734175"/>
            <a:ext cx="4648200" cy="3467100"/>
          </a:xfrm>
          <a:custGeom>
            <a:avLst/>
            <a:gdLst/>
            <a:ahLst/>
            <a:cxnLst/>
            <a:rect l="l" t="t" r="r" b="b"/>
            <a:pathLst>
              <a:path w="488" h="364">
                <a:moveTo>
                  <a:pt x="6" y="364"/>
                </a:moveTo>
                <a:lnTo>
                  <a:pt x="19" y="326"/>
                </a:lnTo>
                <a:lnTo>
                  <a:pt x="33" y="292"/>
                </a:lnTo>
                <a:lnTo>
                  <a:pt x="46" y="261"/>
                </a:lnTo>
                <a:lnTo>
                  <a:pt x="60" y="234"/>
                </a:lnTo>
                <a:lnTo>
                  <a:pt x="73" y="209"/>
                </a:lnTo>
                <a:lnTo>
                  <a:pt x="86" y="187"/>
                </a:lnTo>
                <a:lnTo>
                  <a:pt x="100" y="168"/>
                </a:lnTo>
                <a:lnTo>
                  <a:pt x="113" y="150"/>
                </a:lnTo>
                <a:lnTo>
                  <a:pt x="126" y="135"/>
                </a:lnTo>
                <a:lnTo>
                  <a:pt x="140" y="121"/>
                </a:lnTo>
                <a:lnTo>
                  <a:pt x="153" y="108"/>
                </a:lnTo>
                <a:lnTo>
                  <a:pt x="166" y="97"/>
                </a:lnTo>
                <a:lnTo>
                  <a:pt x="180" y="87"/>
                </a:lnTo>
                <a:lnTo>
                  <a:pt x="193" y="77"/>
                </a:lnTo>
                <a:lnTo>
                  <a:pt x="206" y="69"/>
                </a:lnTo>
                <a:lnTo>
                  <a:pt x="220" y="62"/>
                </a:lnTo>
                <a:lnTo>
                  <a:pt x="233" y="56"/>
                </a:lnTo>
                <a:lnTo>
                  <a:pt x="246" y="50"/>
                </a:lnTo>
                <a:lnTo>
                  <a:pt x="260" y="44"/>
                </a:lnTo>
                <a:lnTo>
                  <a:pt x="273" y="40"/>
                </a:lnTo>
                <a:lnTo>
                  <a:pt x="287" y="36"/>
                </a:lnTo>
                <a:lnTo>
                  <a:pt x="300" y="32"/>
                </a:lnTo>
                <a:lnTo>
                  <a:pt x="313" y="28"/>
                </a:lnTo>
                <a:lnTo>
                  <a:pt x="327" y="25"/>
                </a:lnTo>
                <a:lnTo>
                  <a:pt x="340" y="23"/>
                </a:lnTo>
                <a:lnTo>
                  <a:pt x="353" y="20"/>
                </a:lnTo>
                <a:lnTo>
                  <a:pt x="367" y="18"/>
                </a:lnTo>
                <a:lnTo>
                  <a:pt x="380" y="16"/>
                </a:lnTo>
                <a:lnTo>
                  <a:pt x="394" y="14"/>
                </a:lnTo>
                <a:lnTo>
                  <a:pt x="407" y="13"/>
                </a:lnTo>
                <a:lnTo>
                  <a:pt x="421" y="11"/>
                </a:lnTo>
                <a:lnTo>
                  <a:pt x="434" y="10"/>
                </a:lnTo>
                <a:lnTo>
                  <a:pt x="447" y="9"/>
                </a:lnTo>
                <a:lnTo>
                  <a:pt x="461" y="8"/>
                </a:lnTo>
                <a:lnTo>
                  <a:pt x="474" y="7"/>
                </a:lnTo>
                <a:lnTo>
                  <a:pt x="488" y="6"/>
                </a:lnTo>
                <a:lnTo>
                  <a:pt x="487" y="0"/>
                </a:lnTo>
                <a:lnTo>
                  <a:pt x="474" y="1"/>
                </a:lnTo>
                <a:lnTo>
                  <a:pt x="460" y="2"/>
                </a:lnTo>
                <a:lnTo>
                  <a:pt x="447" y="3"/>
                </a:lnTo>
                <a:lnTo>
                  <a:pt x="433" y="4"/>
                </a:lnTo>
                <a:lnTo>
                  <a:pt x="420" y="5"/>
                </a:lnTo>
                <a:lnTo>
                  <a:pt x="406" y="7"/>
                </a:lnTo>
                <a:lnTo>
                  <a:pt x="393" y="8"/>
                </a:lnTo>
                <a:lnTo>
                  <a:pt x="379" y="10"/>
                </a:lnTo>
                <a:lnTo>
                  <a:pt x="366" y="12"/>
                </a:lnTo>
                <a:lnTo>
                  <a:pt x="352" y="14"/>
                </a:lnTo>
                <a:lnTo>
                  <a:pt x="339" y="17"/>
                </a:lnTo>
                <a:lnTo>
                  <a:pt x="325" y="20"/>
                </a:lnTo>
                <a:lnTo>
                  <a:pt x="312" y="23"/>
                </a:lnTo>
                <a:lnTo>
                  <a:pt x="298" y="26"/>
                </a:lnTo>
                <a:lnTo>
                  <a:pt x="285" y="30"/>
                </a:lnTo>
                <a:lnTo>
                  <a:pt x="271" y="34"/>
                </a:lnTo>
                <a:lnTo>
                  <a:pt x="258" y="39"/>
                </a:lnTo>
                <a:lnTo>
                  <a:pt x="244" y="44"/>
                </a:lnTo>
                <a:lnTo>
                  <a:pt x="231" y="50"/>
                </a:lnTo>
                <a:lnTo>
                  <a:pt x="217" y="57"/>
                </a:lnTo>
                <a:lnTo>
                  <a:pt x="203" y="64"/>
                </a:lnTo>
                <a:lnTo>
                  <a:pt x="190" y="72"/>
                </a:lnTo>
                <a:lnTo>
                  <a:pt x="176" y="82"/>
                </a:lnTo>
                <a:lnTo>
                  <a:pt x="163" y="92"/>
                </a:lnTo>
                <a:lnTo>
                  <a:pt x="149" y="103"/>
                </a:lnTo>
                <a:lnTo>
                  <a:pt x="135" y="116"/>
                </a:lnTo>
                <a:lnTo>
                  <a:pt x="122" y="131"/>
                </a:lnTo>
                <a:lnTo>
                  <a:pt x="108" y="147"/>
                </a:lnTo>
                <a:lnTo>
                  <a:pt x="95" y="164"/>
                </a:lnTo>
                <a:lnTo>
                  <a:pt x="81" y="184"/>
                </a:lnTo>
                <a:lnTo>
                  <a:pt x="68" y="206"/>
                </a:lnTo>
                <a:lnTo>
                  <a:pt x="54" y="231"/>
                </a:lnTo>
                <a:lnTo>
                  <a:pt x="41" y="259"/>
                </a:lnTo>
                <a:lnTo>
                  <a:pt x="27" y="289"/>
                </a:lnTo>
                <a:lnTo>
                  <a:pt x="14" y="324"/>
                </a:lnTo>
                <a:lnTo>
                  <a:pt x="0" y="362"/>
                </a:lnTo>
                <a:close/>
              </a:path>
            </a:pathLst>
          </a:custGeom>
          <a:solidFill>
            <a:srgbClr val="5A6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4981575" y="7200900"/>
            <a:ext cx="4648200" cy="3000375"/>
          </a:xfrm>
          <a:custGeom>
            <a:avLst/>
            <a:gdLst/>
            <a:ahLst/>
            <a:cxnLst/>
            <a:rect l="l" t="t" r="r" b="b"/>
            <a:pathLst>
              <a:path w="488" h="315">
                <a:moveTo>
                  <a:pt x="6" y="315"/>
                </a:moveTo>
                <a:lnTo>
                  <a:pt x="19" y="282"/>
                </a:lnTo>
                <a:lnTo>
                  <a:pt x="33" y="253"/>
                </a:lnTo>
                <a:lnTo>
                  <a:pt x="46" y="226"/>
                </a:lnTo>
                <a:lnTo>
                  <a:pt x="59" y="203"/>
                </a:lnTo>
                <a:lnTo>
                  <a:pt x="73" y="182"/>
                </a:lnTo>
                <a:lnTo>
                  <a:pt x="86" y="163"/>
                </a:lnTo>
                <a:lnTo>
                  <a:pt x="100" y="146"/>
                </a:lnTo>
                <a:lnTo>
                  <a:pt x="113" y="131"/>
                </a:lnTo>
                <a:lnTo>
                  <a:pt x="126" y="117"/>
                </a:lnTo>
                <a:lnTo>
                  <a:pt x="140" y="105"/>
                </a:lnTo>
                <a:lnTo>
                  <a:pt x="153" y="94"/>
                </a:lnTo>
                <a:lnTo>
                  <a:pt x="166" y="84"/>
                </a:lnTo>
                <a:lnTo>
                  <a:pt x="180" y="76"/>
                </a:lnTo>
                <a:lnTo>
                  <a:pt x="193" y="68"/>
                </a:lnTo>
                <a:lnTo>
                  <a:pt x="206" y="61"/>
                </a:lnTo>
                <a:lnTo>
                  <a:pt x="220" y="55"/>
                </a:lnTo>
                <a:lnTo>
                  <a:pt x="233" y="49"/>
                </a:lnTo>
                <a:lnTo>
                  <a:pt x="246" y="44"/>
                </a:lnTo>
                <a:lnTo>
                  <a:pt x="260" y="39"/>
                </a:lnTo>
                <a:lnTo>
                  <a:pt x="273" y="35"/>
                </a:lnTo>
                <a:lnTo>
                  <a:pt x="286" y="32"/>
                </a:lnTo>
                <a:lnTo>
                  <a:pt x="300" y="28"/>
                </a:lnTo>
                <a:lnTo>
                  <a:pt x="313" y="25"/>
                </a:lnTo>
                <a:lnTo>
                  <a:pt x="327" y="23"/>
                </a:lnTo>
                <a:lnTo>
                  <a:pt x="340" y="21"/>
                </a:lnTo>
                <a:lnTo>
                  <a:pt x="353" y="18"/>
                </a:lnTo>
                <a:lnTo>
                  <a:pt x="367" y="17"/>
                </a:lnTo>
                <a:lnTo>
                  <a:pt x="380" y="15"/>
                </a:lnTo>
                <a:lnTo>
                  <a:pt x="394" y="13"/>
                </a:lnTo>
                <a:lnTo>
                  <a:pt x="407" y="12"/>
                </a:lnTo>
                <a:lnTo>
                  <a:pt x="420" y="11"/>
                </a:lnTo>
                <a:lnTo>
                  <a:pt x="434" y="10"/>
                </a:lnTo>
                <a:lnTo>
                  <a:pt x="447" y="9"/>
                </a:lnTo>
                <a:lnTo>
                  <a:pt x="461" y="8"/>
                </a:lnTo>
                <a:lnTo>
                  <a:pt x="474" y="7"/>
                </a:lnTo>
                <a:lnTo>
                  <a:pt x="488" y="6"/>
                </a:lnTo>
                <a:lnTo>
                  <a:pt x="487" y="0"/>
                </a:lnTo>
                <a:lnTo>
                  <a:pt x="474" y="1"/>
                </a:lnTo>
                <a:lnTo>
                  <a:pt x="460" y="2"/>
                </a:lnTo>
                <a:lnTo>
                  <a:pt x="447" y="3"/>
                </a:lnTo>
                <a:lnTo>
                  <a:pt x="433" y="4"/>
                </a:lnTo>
                <a:lnTo>
                  <a:pt x="420" y="5"/>
                </a:lnTo>
                <a:lnTo>
                  <a:pt x="406" y="6"/>
                </a:lnTo>
                <a:lnTo>
                  <a:pt x="393" y="7"/>
                </a:lnTo>
                <a:lnTo>
                  <a:pt x="380" y="9"/>
                </a:lnTo>
                <a:lnTo>
                  <a:pt x="366" y="11"/>
                </a:lnTo>
                <a:lnTo>
                  <a:pt x="353" y="13"/>
                </a:lnTo>
                <a:lnTo>
                  <a:pt x="339" y="15"/>
                </a:lnTo>
                <a:lnTo>
                  <a:pt x="325" y="17"/>
                </a:lnTo>
                <a:lnTo>
                  <a:pt x="312" y="20"/>
                </a:lnTo>
                <a:lnTo>
                  <a:pt x="298" y="23"/>
                </a:lnTo>
                <a:lnTo>
                  <a:pt x="285" y="26"/>
                </a:lnTo>
                <a:lnTo>
                  <a:pt x="271" y="30"/>
                </a:lnTo>
                <a:lnTo>
                  <a:pt x="258" y="34"/>
                </a:lnTo>
                <a:lnTo>
                  <a:pt x="244" y="38"/>
                </a:lnTo>
                <a:lnTo>
                  <a:pt x="231" y="43"/>
                </a:lnTo>
                <a:lnTo>
                  <a:pt x="217" y="49"/>
                </a:lnTo>
                <a:lnTo>
                  <a:pt x="204" y="55"/>
                </a:lnTo>
                <a:lnTo>
                  <a:pt x="190" y="63"/>
                </a:lnTo>
                <a:lnTo>
                  <a:pt x="176" y="71"/>
                </a:lnTo>
                <a:lnTo>
                  <a:pt x="163" y="79"/>
                </a:lnTo>
                <a:lnTo>
                  <a:pt x="149" y="89"/>
                </a:lnTo>
                <a:lnTo>
                  <a:pt x="136" y="100"/>
                </a:lnTo>
                <a:lnTo>
                  <a:pt x="122" y="113"/>
                </a:lnTo>
                <a:lnTo>
                  <a:pt x="108" y="127"/>
                </a:lnTo>
                <a:lnTo>
                  <a:pt x="95" y="142"/>
                </a:lnTo>
                <a:lnTo>
                  <a:pt x="81" y="159"/>
                </a:lnTo>
                <a:lnTo>
                  <a:pt x="68" y="178"/>
                </a:lnTo>
                <a:lnTo>
                  <a:pt x="54" y="200"/>
                </a:lnTo>
                <a:lnTo>
                  <a:pt x="41" y="224"/>
                </a:lnTo>
                <a:lnTo>
                  <a:pt x="27" y="250"/>
                </a:lnTo>
                <a:lnTo>
                  <a:pt x="14" y="280"/>
                </a:lnTo>
                <a:lnTo>
                  <a:pt x="0" y="313"/>
                </a:lnTo>
                <a:close/>
              </a:path>
            </a:pathLst>
          </a:custGeom>
          <a:solidFill>
            <a:srgbClr val="5A6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4981575" y="6343650"/>
            <a:ext cx="4648200" cy="3857625"/>
          </a:xfrm>
          <a:custGeom>
            <a:avLst/>
            <a:gdLst/>
            <a:ahLst/>
            <a:cxnLst/>
            <a:rect l="l" t="t" r="r" b="b"/>
            <a:pathLst>
              <a:path w="488" h="405">
                <a:moveTo>
                  <a:pt x="6" y="405"/>
                </a:moveTo>
                <a:lnTo>
                  <a:pt x="19" y="362"/>
                </a:lnTo>
                <a:lnTo>
                  <a:pt x="33" y="324"/>
                </a:lnTo>
                <a:lnTo>
                  <a:pt x="46" y="290"/>
                </a:lnTo>
                <a:lnTo>
                  <a:pt x="60" y="260"/>
                </a:lnTo>
                <a:lnTo>
                  <a:pt x="73" y="233"/>
                </a:lnTo>
                <a:lnTo>
                  <a:pt x="86" y="208"/>
                </a:lnTo>
                <a:lnTo>
                  <a:pt x="100" y="186"/>
                </a:lnTo>
                <a:lnTo>
                  <a:pt x="113" y="167"/>
                </a:lnTo>
                <a:lnTo>
                  <a:pt x="126" y="149"/>
                </a:lnTo>
                <a:lnTo>
                  <a:pt x="140" y="134"/>
                </a:lnTo>
                <a:lnTo>
                  <a:pt x="153" y="120"/>
                </a:lnTo>
                <a:lnTo>
                  <a:pt x="167" y="107"/>
                </a:lnTo>
                <a:lnTo>
                  <a:pt x="180" y="96"/>
                </a:lnTo>
                <a:lnTo>
                  <a:pt x="193" y="86"/>
                </a:lnTo>
                <a:lnTo>
                  <a:pt x="207" y="77"/>
                </a:lnTo>
                <a:lnTo>
                  <a:pt x="220" y="69"/>
                </a:lnTo>
                <a:lnTo>
                  <a:pt x="233" y="61"/>
                </a:lnTo>
                <a:lnTo>
                  <a:pt x="247" y="55"/>
                </a:lnTo>
                <a:lnTo>
                  <a:pt x="260" y="49"/>
                </a:lnTo>
                <a:lnTo>
                  <a:pt x="273" y="44"/>
                </a:lnTo>
                <a:lnTo>
                  <a:pt x="287" y="39"/>
                </a:lnTo>
                <a:lnTo>
                  <a:pt x="300" y="35"/>
                </a:lnTo>
                <a:lnTo>
                  <a:pt x="313" y="31"/>
                </a:lnTo>
                <a:lnTo>
                  <a:pt x="327" y="28"/>
                </a:lnTo>
                <a:lnTo>
                  <a:pt x="340" y="25"/>
                </a:lnTo>
                <a:lnTo>
                  <a:pt x="354" y="22"/>
                </a:lnTo>
                <a:lnTo>
                  <a:pt x="367" y="20"/>
                </a:lnTo>
                <a:lnTo>
                  <a:pt x="380" y="17"/>
                </a:lnTo>
                <a:lnTo>
                  <a:pt x="394" y="15"/>
                </a:lnTo>
                <a:lnTo>
                  <a:pt x="407" y="14"/>
                </a:lnTo>
                <a:lnTo>
                  <a:pt x="421" y="12"/>
                </a:lnTo>
                <a:lnTo>
                  <a:pt x="434" y="11"/>
                </a:lnTo>
                <a:lnTo>
                  <a:pt x="447" y="9"/>
                </a:lnTo>
                <a:lnTo>
                  <a:pt x="461" y="8"/>
                </a:lnTo>
                <a:lnTo>
                  <a:pt x="474" y="7"/>
                </a:lnTo>
                <a:lnTo>
                  <a:pt x="488" y="6"/>
                </a:lnTo>
                <a:lnTo>
                  <a:pt x="487" y="0"/>
                </a:lnTo>
                <a:lnTo>
                  <a:pt x="474" y="1"/>
                </a:lnTo>
                <a:lnTo>
                  <a:pt x="460" y="2"/>
                </a:lnTo>
                <a:lnTo>
                  <a:pt x="447" y="4"/>
                </a:lnTo>
                <a:lnTo>
                  <a:pt x="433" y="5"/>
                </a:lnTo>
                <a:lnTo>
                  <a:pt x="420" y="6"/>
                </a:lnTo>
                <a:lnTo>
                  <a:pt x="406" y="8"/>
                </a:lnTo>
                <a:lnTo>
                  <a:pt x="393" y="10"/>
                </a:lnTo>
                <a:lnTo>
                  <a:pt x="379" y="11"/>
                </a:lnTo>
                <a:lnTo>
                  <a:pt x="366" y="14"/>
                </a:lnTo>
                <a:lnTo>
                  <a:pt x="352" y="16"/>
                </a:lnTo>
                <a:lnTo>
                  <a:pt x="339" y="19"/>
                </a:lnTo>
                <a:lnTo>
                  <a:pt x="325" y="22"/>
                </a:lnTo>
                <a:lnTo>
                  <a:pt x="312" y="25"/>
                </a:lnTo>
                <a:lnTo>
                  <a:pt x="298" y="29"/>
                </a:lnTo>
                <a:lnTo>
                  <a:pt x="285" y="33"/>
                </a:lnTo>
                <a:lnTo>
                  <a:pt x="271" y="38"/>
                </a:lnTo>
                <a:lnTo>
                  <a:pt x="258" y="43"/>
                </a:lnTo>
                <a:lnTo>
                  <a:pt x="244" y="49"/>
                </a:lnTo>
                <a:lnTo>
                  <a:pt x="230" y="56"/>
                </a:lnTo>
                <a:lnTo>
                  <a:pt x="217" y="63"/>
                </a:lnTo>
                <a:lnTo>
                  <a:pt x="203" y="72"/>
                </a:lnTo>
                <a:lnTo>
                  <a:pt x="190" y="81"/>
                </a:lnTo>
                <a:lnTo>
                  <a:pt x="176" y="91"/>
                </a:lnTo>
                <a:lnTo>
                  <a:pt x="163" y="103"/>
                </a:lnTo>
                <a:lnTo>
                  <a:pt x="149" y="115"/>
                </a:lnTo>
                <a:lnTo>
                  <a:pt x="135" y="130"/>
                </a:lnTo>
                <a:lnTo>
                  <a:pt x="122" y="146"/>
                </a:lnTo>
                <a:lnTo>
                  <a:pt x="108" y="163"/>
                </a:lnTo>
                <a:lnTo>
                  <a:pt x="95" y="183"/>
                </a:lnTo>
                <a:lnTo>
                  <a:pt x="81" y="205"/>
                </a:lnTo>
                <a:lnTo>
                  <a:pt x="68" y="230"/>
                </a:lnTo>
                <a:lnTo>
                  <a:pt x="54" y="257"/>
                </a:lnTo>
                <a:lnTo>
                  <a:pt x="41" y="288"/>
                </a:lnTo>
                <a:lnTo>
                  <a:pt x="27" y="322"/>
                </a:lnTo>
                <a:lnTo>
                  <a:pt x="14" y="361"/>
                </a:lnTo>
                <a:lnTo>
                  <a:pt x="0" y="403"/>
                </a:lnTo>
                <a:close/>
              </a:path>
            </a:pathLst>
          </a:custGeom>
          <a:solidFill>
            <a:srgbClr val="5A6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4962525" y="4086225"/>
            <a:ext cx="2638425" cy="6115050"/>
          </a:xfrm>
          <a:custGeom>
            <a:avLst/>
            <a:gdLst/>
            <a:ahLst/>
            <a:cxnLst/>
            <a:rect l="l" t="t" r="r" b="b"/>
            <a:pathLst>
              <a:path w="277" h="642">
                <a:moveTo>
                  <a:pt x="10" y="642"/>
                </a:moveTo>
                <a:lnTo>
                  <a:pt x="23" y="567"/>
                </a:lnTo>
                <a:lnTo>
                  <a:pt x="37" y="501"/>
                </a:lnTo>
                <a:lnTo>
                  <a:pt x="50" y="441"/>
                </a:lnTo>
                <a:lnTo>
                  <a:pt x="64" y="387"/>
                </a:lnTo>
                <a:lnTo>
                  <a:pt x="77" y="339"/>
                </a:lnTo>
                <a:lnTo>
                  <a:pt x="91" y="296"/>
                </a:lnTo>
                <a:lnTo>
                  <a:pt x="104" y="258"/>
                </a:lnTo>
                <a:lnTo>
                  <a:pt x="117" y="223"/>
                </a:lnTo>
                <a:lnTo>
                  <a:pt x="131" y="193"/>
                </a:lnTo>
                <a:lnTo>
                  <a:pt x="144" y="165"/>
                </a:lnTo>
                <a:lnTo>
                  <a:pt x="157" y="141"/>
                </a:lnTo>
                <a:lnTo>
                  <a:pt x="171" y="118"/>
                </a:lnTo>
                <a:lnTo>
                  <a:pt x="184" y="99"/>
                </a:lnTo>
                <a:lnTo>
                  <a:pt x="197" y="81"/>
                </a:lnTo>
                <a:lnTo>
                  <a:pt x="211" y="65"/>
                </a:lnTo>
                <a:lnTo>
                  <a:pt x="224" y="51"/>
                </a:lnTo>
                <a:lnTo>
                  <a:pt x="237" y="38"/>
                </a:lnTo>
                <a:lnTo>
                  <a:pt x="250" y="27"/>
                </a:lnTo>
                <a:lnTo>
                  <a:pt x="264" y="17"/>
                </a:lnTo>
                <a:lnTo>
                  <a:pt x="277" y="8"/>
                </a:lnTo>
                <a:lnTo>
                  <a:pt x="271" y="0"/>
                </a:lnTo>
                <a:lnTo>
                  <a:pt x="258" y="9"/>
                </a:lnTo>
                <a:lnTo>
                  <a:pt x="244" y="19"/>
                </a:lnTo>
                <a:lnTo>
                  <a:pt x="230" y="31"/>
                </a:lnTo>
                <a:lnTo>
                  <a:pt x="217" y="44"/>
                </a:lnTo>
                <a:lnTo>
                  <a:pt x="203" y="59"/>
                </a:lnTo>
                <a:lnTo>
                  <a:pt x="190" y="75"/>
                </a:lnTo>
                <a:lnTo>
                  <a:pt x="176" y="93"/>
                </a:lnTo>
                <a:lnTo>
                  <a:pt x="162" y="113"/>
                </a:lnTo>
                <a:lnTo>
                  <a:pt x="149" y="136"/>
                </a:lnTo>
                <a:lnTo>
                  <a:pt x="135" y="161"/>
                </a:lnTo>
                <a:lnTo>
                  <a:pt x="122" y="189"/>
                </a:lnTo>
                <a:lnTo>
                  <a:pt x="108" y="220"/>
                </a:lnTo>
                <a:lnTo>
                  <a:pt x="95" y="254"/>
                </a:lnTo>
                <a:lnTo>
                  <a:pt x="81" y="293"/>
                </a:lnTo>
                <a:lnTo>
                  <a:pt x="68" y="336"/>
                </a:lnTo>
                <a:lnTo>
                  <a:pt x="54" y="385"/>
                </a:lnTo>
                <a:lnTo>
                  <a:pt x="41" y="438"/>
                </a:lnTo>
                <a:lnTo>
                  <a:pt x="27" y="498"/>
                </a:lnTo>
                <a:lnTo>
                  <a:pt x="14" y="565"/>
                </a:lnTo>
                <a:lnTo>
                  <a:pt x="0" y="640"/>
                </a:lnTo>
                <a:close/>
              </a:path>
            </a:pathLst>
          </a:custGeom>
          <a:solidFill>
            <a:srgbClr val="BEF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10150" y="10191750"/>
            <a:ext cx="4743450" cy="19050"/>
          </a:xfrm>
          <a:prstGeom prst="rect">
            <a:avLst/>
          </a:prstGeom>
          <a:solidFill>
            <a:srgbClr val="3A3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10150" y="10344150"/>
            <a:ext cx="2286000" cy="3333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75" b="0">
                <a:solidFill>
                  <a:srgbClr val="9BA1AB"/>
                </a:solidFill>
                <a:latin typeface="Space Grotesk"/>
              </a:rPr>
              <a:t>originação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7600" y="10344150"/>
            <a:ext cx="2286000" cy="3333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575" b="0">
                <a:solidFill>
                  <a:srgbClr val="9BA1AB"/>
                </a:solidFill>
                <a:latin typeface="Space Grotesk"/>
              </a:rPr>
              <a:t>18 meses</a:t>
            </a:r>
          </a:p>
        </p:txBody>
      </p:sp>
      <p:sp>
        <p:nvSpPr>
          <p:cNvPr id="27" name="Oval 26"/>
          <p:cNvSpPr/>
          <p:nvPr/>
        </p:nvSpPr>
        <p:spPr>
          <a:xfrm>
            <a:off x="5010150" y="10953750"/>
            <a:ext cx="133350" cy="133350"/>
          </a:xfrm>
          <a:prstGeom prst="ellipse">
            <a:avLst/>
          </a:prstGeom>
          <a:solidFill>
            <a:srgbClr val="BEF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57800" y="10915650"/>
            <a:ext cx="1905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F4F1EA"/>
                </a:solidFill>
                <a:latin typeface="Space Grotesk"/>
              </a:rPr>
              <a:t>a safra nova</a:t>
            </a:r>
          </a:p>
        </p:txBody>
      </p:sp>
      <p:sp>
        <p:nvSpPr>
          <p:cNvPr id="29" name="Oval 28"/>
          <p:cNvSpPr/>
          <p:nvPr/>
        </p:nvSpPr>
        <p:spPr>
          <a:xfrm>
            <a:off x="7296150" y="10953750"/>
            <a:ext cx="133350" cy="133350"/>
          </a:xfrm>
          <a:prstGeom prst="ellipse">
            <a:avLst/>
          </a:prstGeom>
          <a:solidFill>
            <a:srgbClr val="5A6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10915650"/>
            <a:ext cx="22098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9BA1AB"/>
                </a:solidFill>
                <a:latin typeface="Space Grotesk"/>
              </a:rPr>
              <a:t>safras anteriores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