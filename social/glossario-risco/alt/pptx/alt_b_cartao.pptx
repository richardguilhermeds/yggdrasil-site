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533400"/>
            <a:ext cx="9220200" cy="11791950"/>
          </a:xfrm>
          <a:prstGeom prst="roundRect">
            <a:avLst>
              <a:gd name="adj" fmla="val 4132"/>
            </a:avLst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9200" y="1219200"/>
            <a:ext cx="7848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BEF264"/>
                </a:solidFill>
                <a:latin typeface="Space Grotesk"/>
              </a:rPr>
              <a:t>GLOSSÁRIO DE RISCO — VERBETE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1657350"/>
            <a:ext cx="7848600" cy="1657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700" b="0">
                <a:solidFill>
                  <a:srgbClr val="F4F1EA"/>
                </a:solidFill>
                <a:latin typeface="Archivo Black"/>
              </a:rPr>
              <a:t>sa·fra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3028950"/>
            <a:ext cx="7848600" cy="428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025" b="0">
                <a:solidFill>
                  <a:srgbClr val="9BA1AB"/>
                </a:solidFill>
                <a:latin typeface="Space Grotesk"/>
              </a:rPr>
              <a:t>substantivo feminino · análise vintage · risco de crédito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3543300"/>
            <a:ext cx="7848600" cy="28575"/>
          </a:xfrm>
          <a:prstGeom prst="rect">
            <a:avLst/>
          </a:prstGeom>
          <a:solidFill>
            <a:srgbClr val="2A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9200" y="3848100"/>
            <a:ext cx="7848600" cy="120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175" b="0">
                <a:solidFill>
                  <a:srgbClr val="F4F1EA"/>
                </a:solidFill>
                <a:latin typeface="Space Grotesk"/>
              </a:rPr>
              <a:t>1. Cada mês de originação vira uma geração acompanhada separadamente: quanto da safra deu problema 3, 6, 12 meses após a concessão.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6153150"/>
            <a:ext cx="7848600" cy="19050"/>
          </a:xfrm>
          <a:prstGeom prst="rect">
            <a:avLst/>
          </a:prstGeom>
          <a:solidFill>
            <a:srgbClr val="22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19200" y="7200900"/>
            <a:ext cx="7848600" cy="19050"/>
          </a:xfrm>
          <a:prstGeom prst="rect">
            <a:avLst/>
          </a:prstGeom>
          <a:solidFill>
            <a:srgbClr val="22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209675" y="6858000"/>
            <a:ext cx="7648575" cy="1504950"/>
          </a:xfrm>
          <a:custGeom>
            <a:avLst/>
            <a:gdLst/>
            <a:ahLst/>
            <a:cxnLst/>
            <a:rect l="l" t="t" r="r" b="b"/>
            <a:pathLst>
              <a:path w="803" h="158">
                <a:moveTo>
                  <a:pt x="2" y="158"/>
                </a:moveTo>
                <a:lnTo>
                  <a:pt x="25" y="142"/>
                </a:lnTo>
                <a:lnTo>
                  <a:pt x="47" y="127"/>
                </a:lnTo>
                <a:lnTo>
                  <a:pt x="69" y="114"/>
                </a:lnTo>
                <a:lnTo>
                  <a:pt x="91" y="103"/>
                </a:lnTo>
                <a:lnTo>
                  <a:pt x="113" y="92"/>
                </a:lnTo>
                <a:lnTo>
                  <a:pt x="136" y="83"/>
                </a:lnTo>
                <a:lnTo>
                  <a:pt x="158" y="74"/>
                </a:lnTo>
                <a:lnTo>
                  <a:pt x="180" y="67"/>
                </a:lnTo>
                <a:lnTo>
                  <a:pt x="202" y="60"/>
                </a:lnTo>
                <a:lnTo>
                  <a:pt x="224" y="54"/>
                </a:lnTo>
                <a:lnTo>
                  <a:pt x="247" y="49"/>
                </a:lnTo>
                <a:lnTo>
                  <a:pt x="269" y="44"/>
                </a:lnTo>
                <a:lnTo>
                  <a:pt x="291" y="39"/>
                </a:lnTo>
                <a:lnTo>
                  <a:pt x="313" y="36"/>
                </a:lnTo>
                <a:lnTo>
                  <a:pt x="335" y="32"/>
                </a:lnTo>
                <a:lnTo>
                  <a:pt x="358" y="29"/>
                </a:lnTo>
                <a:lnTo>
                  <a:pt x="380" y="26"/>
                </a:lnTo>
                <a:lnTo>
                  <a:pt x="402" y="24"/>
                </a:lnTo>
                <a:lnTo>
                  <a:pt x="424" y="21"/>
                </a:lnTo>
                <a:lnTo>
                  <a:pt x="447" y="19"/>
                </a:lnTo>
                <a:lnTo>
                  <a:pt x="469" y="18"/>
                </a:lnTo>
                <a:lnTo>
                  <a:pt x="491" y="16"/>
                </a:lnTo>
                <a:lnTo>
                  <a:pt x="513" y="15"/>
                </a:lnTo>
                <a:lnTo>
                  <a:pt x="536" y="13"/>
                </a:lnTo>
                <a:lnTo>
                  <a:pt x="558" y="12"/>
                </a:lnTo>
                <a:lnTo>
                  <a:pt x="580" y="11"/>
                </a:lnTo>
                <a:lnTo>
                  <a:pt x="602" y="10"/>
                </a:lnTo>
                <a:lnTo>
                  <a:pt x="625" y="9"/>
                </a:lnTo>
                <a:lnTo>
                  <a:pt x="647" y="8"/>
                </a:lnTo>
                <a:lnTo>
                  <a:pt x="669" y="8"/>
                </a:lnTo>
                <a:lnTo>
                  <a:pt x="691" y="7"/>
                </a:lnTo>
                <a:lnTo>
                  <a:pt x="714" y="7"/>
                </a:lnTo>
                <a:lnTo>
                  <a:pt x="736" y="6"/>
                </a:lnTo>
                <a:lnTo>
                  <a:pt x="758" y="6"/>
                </a:lnTo>
                <a:lnTo>
                  <a:pt x="781" y="5"/>
                </a:lnTo>
                <a:lnTo>
                  <a:pt x="803" y="5"/>
                </a:lnTo>
                <a:lnTo>
                  <a:pt x="803" y="0"/>
                </a:lnTo>
                <a:lnTo>
                  <a:pt x="780" y="0"/>
                </a:lnTo>
                <a:lnTo>
                  <a:pt x="758" y="1"/>
                </a:lnTo>
                <a:lnTo>
                  <a:pt x="736" y="1"/>
                </a:lnTo>
                <a:lnTo>
                  <a:pt x="714" y="2"/>
                </a:lnTo>
                <a:lnTo>
                  <a:pt x="691" y="2"/>
                </a:lnTo>
                <a:lnTo>
                  <a:pt x="669" y="3"/>
                </a:lnTo>
                <a:lnTo>
                  <a:pt x="647" y="3"/>
                </a:lnTo>
                <a:lnTo>
                  <a:pt x="624" y="4"/>
                </a:lnTo>
                <a:lnTo>
                  <a:pt x="602" y="5"/>
                </a:lnTo>
                <a:lnTo>
                  <a:pt x="580" y="6"/>
                </a:lnTo>
                <a:lnTo>
                  <a:pt x="558" y="7"/>
                </a:lnTo>
                <a:lnTo>
                  <a:pt x="535" y="8"/>
                </a:lnTo>
                <a:lnTo>
                  <a:pt x="513" y="10"/>
                </a:lnTo>
                <a:lnTo>
                  <a:pt x="491" y="11"/>
                </a:lnTo>
                <a:lnTo>
                  <a:pt x="468" y="13"/>
                </a:lnTo>
                <a:lnTo>
                  <a:pt x="446" y="14"/>
                </a:lnTo>
                <a:lnTo>
                  <a:pt x="424" y="16"/>
                </a:lnTo>
                <a:lnTo>
                  <a:pt x="402" y="19"/>
                </a:lnTo>
                <a:lnTo>
                  <a:pt x="379" y="21"/>
                </a:lnTo>
                <a:lnTo>
                  <a:pt x="357" y="24"/>
                </a:lnTo>
                <a:lnTo>
                  <a:pt x="335" y="27"/>
                </a:lnTo>
                <a:lnTo>
                  <a:pt x="312" y="31"/>
                </a:lnTo>
                <a:lnTo>
                  <a:pt x="290" y="35"/>
                </a:lnTo>
                <a:lnTo>
                  <a:pt x="268" y="39"/>
                </a:lnTo>
                <a:lnTo>
                  <a:pt x="245" y="44"/>
                </a:lnTo>
                <a:lnTo>
                  <a:pt x="223" y="49"/>
                </a:lnTo>
                <a:lnTo>
                  <a:pt x="201" y="55"/>
                </a:lnTo>
                <a:lnTo>
                  <a:pt x="178" y="62"/>
                </a:lnTo>
                <a:lnTo>
                  <a:pt x="156" y="70"/>
                </a:lnTo>
                <a:lnTo>
                  <a:pt x="134" y="78"/>
                </a:lnTo>
                <a:lnTo>
                  <a:pt x="111" y="88"/>
                </a:lnTo>
                <a:lnTo>
                  <a:pt x="89" y="98"/>
                </a:lnTo>
                <a:lnTo>
                  <a:pt x="67" y="110"/>
                </a:lnTo>
                <a:lnTo>
                  <a:pt x="44" y="123"/>
                </a:lnTo>
                <a:lnTo>
                  <a:pt x="22" y="138"/>
                </a:lnTo>
                <a:lnTo>
                  <a:pt x="0" y="154"/>
                </a:lnTo>
                <a:close/>
              </a:path>
            </a:pathLst>
          </a:custGeom>
          <a:solidFill>
            <a:srgbClr val="5A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209675" y="7058025"/>
            <a:ext cx="7648575" cy="1304925"/>
          </a:xfrm>
          <a:custGeom>
            <a:avLst/>
            <a:gdLst/>
            <a:ahLst/>
            <a:cxnLst/>
            <a:rect l="l" t="t" r="r" b="b"/>
            <a:pathLst>
              <a:path w="803" h="137">
                <a:moveTo>
                  <a:pt x="2" y="137"/>
                </a:moveTo>
                <a:lnTo>
                  <a:pt x="25" y="123"/>
                </a:lnTo>
                <a:lnTo>
                  <a:pt x="47" y="111"/>
                </a:lnTo>
                <a:lnTo>
                  <a:pt x="69" y="99"/>
                </a:lnTo>
                <a:lnTo>
                  <a:pt x="91" y="89"/>
                </a:lnTo>
                <a:lnTo>
                  <a:pt x="113" y="80"/>
                </a:lnTo>
                <a:lnTo>
                  <a:pt x="135" y="72"/>
                </a:lnTo>
                <a:lnTo>
                  <a:pt x="158" y="65"/>
                </a:lnTo>
                <a:lnTo>
                  <a:pt x="180" y="58"/>
                </a:lnTo>
                <a:lnTo>
                  <a:pt x="202" y="53"/>
                </a:lnTo>
                <a:lnTo>
                  <a:pt x="224" y="47"/>
                </a:lnTo>
                <a:lnTo>
                  <a:pt x="246" y="43"/>
                </a:lnTo>
                <a:lnTo>
                  <a:pt x="269" y="38"/>
                </a:lnTo>
                <a:lnTo>
                  <a:pt x="291" y="35"/>
                </a:lnTo>
                <a:lnTo>
                  <a:pt x="313" y="31"/>
                </a:lnTo>
                <a:lnTo>
                  <a:pt x="335" y="28"/>
                </a:lnTo>
                <a:lnTo>
                  <a:pt x="358" y="26"/>
                </a:lnTo>
                <a:lnTo>
                  <a:pt x="380" y="23"/>
                </a:lnTo>
                <a:lnTo>
                  <a:pt x="402" y="21"/>
                </a:lnTo>
                <a:lnTo>
                  <a:pt x="424" y="19"/>
                </a:lnTo>
                <a:lnTo>
                  <a:pt x="447" y="17"/>
                </a:lnTo>
                <a:lnTo>
                  <a:pt x="469" y="16"/>
                </a:lnTo>
                <a:lnTo>
                  <a:pt x="491" y="14"/>
                </a:lnTo>
                <a:lnTo>
                  <a:pt x="513" y="13"/>
                </a:lnTo>
                <a:lnTo>
                  <a:pt x="536" y="12"/>
                </a:lnTo>
                <a:lnTo>
                  <a:pt x="558" y="11"/>
                </a:lnTo>
                <a:lnTo>
                  <a:pt x="580" y="10"/>
                </a:lnTo>
                <a:lnTo>
                  <a:pt x="602" y="9"/>
                </a:lnTo>
                <a:lnTo>
                  <a:pt x="625" y="9"/>
                </a:lnTo>
                <a:lnTo>
                  <a:pt x="647" y="8"/>
                </a:lnTo>
                <a:lnTo>
                  <a:pt x="669" y="7"/>
                </a:lnTo>
                <a:lnTo>
                  <a:pt x="691" y="7"/>
                </a:lnTo>
                <a:lnTo>
                  <a:pt x="714" y="6"/>
                </a:lnTo>
                <a:lnTo>
                  <a:pt x="736" y="6"/>
                </a:lnTo>
                <a:lnTo>
                  <a:pt x="758" y="6"/>
                </a:lnTo>
                <a:lnTo>
                  <a:pt x="780" y="5"/>
                </a:lnTo>
                <a:lnTo>
                  <a:pt x="803" y="5"/>
                </a:lnTo>
                <a:lnTo>
                  <a:pt x="803" y="0"/>
                </a:lnTo>
                <a:lnTo>
                  <a:pt x="780" y="0"/>
                </a:lnTo>
                <a:lnTo>
                  <a:pt x="758" y="1"/>
                </a:lnTo>
                <a:lnTo>
                  <a:pt x="736" y="1"/>
                </a:lnTo>
                <a:lnTo>
                  <a:pt x="714" y="1"/>
                </a:lnTo>
                <a:lnTo>
                  <a:pt x="691" y="2"/>
                </a:lnTo>
                <a:lnTo>
                  <a:pt x="669" y="2"/>
                </a:lnTo>
                <a:lnTo>
                  <a:pt x="647" y="3"/>
                </a:lnTo>
                <a:lnTo>
                  <a:pt x="624" y="4"/>
                </a:lnTo>
                <a:lnTo>
                  <a:pt x="602" y="4"/>
                </a:lnTo>
                <a:lnTo>
                  <a:pt x="580" y="5"/>
                </a:lnTo>
                <a:lnTo>
                  <a:pt x="558" y="6"/>
                </a:lnTo>
                <a:lnTo>
                  <a:pt x="535" y="7"/>
                </a:lnTo>
                <a:lnTo>
                  <a:pt x="513" y="8"/>
                </a:lnTo>
                <a:lnTo>
                  <a:pt x="491" y="9"/>
                </a:lnTo>
                <a:lnTo>
                  <a:pt x="469" y="11"/>
                </a:lnTo>
                <a:lnTo>
                  <a:pt x="446" y="12"/>
                </a:lnTo>
                <a:lnTo>
                  <a:pt x="424" y="14"/>
                </a:lnTo>
                <a:lnTo>
                  <a:pt x="402" y="16"/>
                </a:lnTo>
                <a:lnTo>
                  <a:pt x="379" y="18"/>
                </a:lnTo>
                <a:lnTo>
                  <a:pt x="357" y="21"/>
                </a:lnTo>
                <a:lnTo>
                  <a:pt x="335" y="23"/>
                </a:lnTo>
                <a:lnTo>
                  <a:pt x="312" y="26"/>
                </a:lnTo>
                <a:lnTo>
                  <a:pt x="290" y="30"/>
                </a:lnTo>
                <a:lnTo>
                  <a:pt x="268" y="34"/>
                </a:lnTo>
                <a:lnTo>
                  <a:pt x="245" y="38"/>
                </a:lnTo>
                <a:lnTo>
                  <a:pt x="223" y="42"/>
                </a:lnTo>
                <a:lnTo>
                  <a:pt x="201" y="48"/>
                </a:lnTo>
                <a:lnTo>
                  <a:pt x="178" y="54"/>
                </a:lnTo>
                <a:lnTo>
                  <a:pt x="156" y="60"/>
                </a:lnTo>
                <a:lnTo>
                  <a:pt x="134" y="67"/>
                </a:lnTo>
                <a:lnTo>
                  <a:pt x="111" y="76"/>
                </a:lnTo>
                <a:lnTo>
                  <a:pt x="89" y="85"/>
                </a:lnTo>
                <a:lnTo>
                  <a:pt x="67" y="95"/>
                </a:lnTo>
                <a:lnTo>
                  <a:pt x="44" y="106"/>
                </a:lnTo>
                <a:lnTo>
                  <a:pt x="22" y="119"/>
                </a:lnTo>
                <a:lnTo>
                  <a:pt x="0" y="133"/>
                </a:lnTo>
                <a:close/>
              </a:path>
            </a:pathLst>
          </a:custGeom>
          <a:solidFill>
            <a:srgbClr val="5A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200150" y="6696075"/>
            <a:ext cx="7658100" cy="1666875"/>
          </a:xfrm>
          <a:custGeom>
            <a:avLst/>
            <a:gdLst/>
            <a:ahLst/>
            <a:cxnLst/>
            <a:rect l="l" t="t" r="r" b="b"/>
            <a:pathLst>
              <a:path w="804" h="175">
                <a:moveTo>
                  <a:pt x="4" y="175"/>
                </a:moveTo>
                <a:lnTo>
                  <a:pt x="26" y="157"/>
                </a:lnTo>
                <a:lnTo>
                  <a:pt x="48" y="141"/>
                </a:lnTo>
                <a:lnTo>
                  <a:pt x="70" y="126"/>
                </a:lnTo>
                <a:lnTo>
                  <a:pt x="92" y="113"/>
                </a:lnTo>
                <a:lnTo>
                  <a:pt x="114" y="102"/>
                </a:lnTo>
                <a:lnTo>
                  <a:pt x="137" y="91"/>
                </a:lnTo>
                <a:lnTo>
                  <a:pt x="159" y="82"/>
                </a:lnTo>
                <a:lnTo>
                  <a:pt x="181" y="73"/>
                </a:lnTo>
                <a:lnTo>
                  <a:pt x="203" y="66"/>
                </a:lnTo>
                <a:lnTo>
                  <a:pt x="225" y="59"/>
                </a:lnTo>
                <a:lnTo>
                  <a:pt x="248" y="53"/>
                </a:lnTo>
                <a:lnTo>
                  <a:pt x="270" y="48"/>
                </a:lnTo>
                <a:lnTo>
                  <a:pt x="292" y="43"/>
                </a:lnTo>
                <a:lnTo>
                  <a:pt x="314" y="39"/>
                </a:lnTo>
                <a:lnTo>
                  <a:pt x="336" y="35"/>
                </a:lnTo>
                <a:lnTo>
                  <a:pt x="359" y="31"/>
                </a:lnTo>
                <a:lnTo>
                  <a:pt x="381" y="28"/>
                </a:lnTo>
                <a:lnTo>
                  <a:pt x="403" y="25"/>
                </a:lnTo>
                <a:lnTo>
                  <a:pt x="425" y="23"/>
                </a:lnTo>
                <a:lnTo>
                  <a:pt x="448" y="21"/>
                </a:lnTo>
                <a:lnTo>
                  <a:pt x="470" y="19"/>
                </a:lnTo>
                <a:lnTo>
                  <a:pt x="492" y="17"/>
                </a:lnTo>
                <a:lnTo>
                  <a:pt x="514" y="15"/>
                </a:lnTo>
                <a:lnTo>
                  <a:pt x="537" y="14"/>
                </a:lnTo>
                <a:lnTo>
                  <a:pt x="559" y="12"/>
                </a:lnTo>
                <a:lnTo>
                  <a:pt x="581" y="11"/>
                </a:lnTo>
                <a:lnTo>
                  <a:pt x="603" y="10"/>
                </a:lnTo>
                <a:lnTo>
                  <a:pt x="626" y="9"/>
                </a:lnTo>
                <a:lnTo>
                  <a:pt x="648" y="8"/>
                </a:lnTo>
                <a:lnTo>
                  <a:pt x="670" y="8"/>
                </a:lnTo>
                <a:lnTo>
                  <a:pt x="692" y="7"/>
                </a:lnTo>
                <a:lnTo>
                  <a:pt x="715" y="6"/>
                </a:lnTo>
                <a:lnTo>
                  <a:pt x="737" y="6"/>
                </a:lnTo>
                <a:lnTo>
                  <a:pt x="759" y="5"/>
                </a:lnTo>
                <a:lnTo>
                  <a:pt x="782" y="5"/>
                </a:lnTo>
                <a:lnTo>
                  <a:pt x="804" y="5"/>
                </a:lnTo>
                <a:lnTo>
                  <a:pt x="804" y="0"/>
                </a:lnTo>
                <a:lnTo>
                  <a:pt x="781" y="0"/>
                </a:lnTo>
                <a:lnTo>
                  <a:pt x="759" y="0"/>
                </a:lnTo>
                <a:lnTo>
                  <a:pt x="737" y="1"/>
                </a:lnTo>
                <a:lnTo>
                  <a:pt x="715" y="1"/>
                </a:lnTo>
                <a:lnTo>
                  <a:pt x="692" y="2"/>
                </a:lnTo>
                <a:lnTo>
                  <a:pt x="670" y="3"/>
                </a:lnTo>
                <a:lnTo>
                  <a:pt x="648" y="3"/>
                </a:lnTo>
                <a:lnTo>
                  <a:pt x="625" y="4"/>
                </a:lnTo>
                <a:lnTo>
                  <a:pt x="603" y="5"/>
                </a:lnTo>
                <a:lnTo>
                  <a:pt x="581" y="6"/>
                </a:lnTo>
                <a:lnTo>
                  <a:pt x="559" y="7"/>
                </a:lnTo>
                <a:lnTo>
                  <a:pt x="536" y="9"/>
                </a:lnTo>
                <a:lnTo>
                  <a:pt x="514" y="10"/>
                </a:lnTo>
                <a:lnTo>
                  <a:pt x="492" y="12"/>
                </a:lnTo>
                <a:lnTo>
                  <a:pt x="469" y="14"/>
                </a:lnTo>
                <a:lnTo>
                  <a:pt x="447" y="16"/>
                </a:lnTo>
                <a:lnTo>
                  <a:pt x="425" y="18"/>
                </a:lnTo>
                <a:lnTo>
                  <a:pt x="403" y="20"/>
                </a:lnTo>
                <a:lnTo>
                  <a:pt x="380" y="23"/>
                </a:lnTo>
                <a:lnTo>
                  <a:pt x="358" y="26"/>
                </a:lnTo>
                <a:lnTo>
                  <a:pt x="336" y="30"/>
                </a:lnTo>
                <a:lnTo>
                  <a:pt x="313" y="34"/>
                </a:lnTo>
                <a:lnTo>
                  <a:pt x="291" y="38"/>
                </a:lnTo>
                <a:lnTo>
                  <a:pt x="269" y="43"/>
                </a:lnTo>
                <a:lnTo>
                  <a:pt x="246" y="48"/>
                </a:lnTo>
                <a:lnTo>
                  <a:pt x="224" y="54"/>
                </a:lnTo>
                <a:lnTo>
                  <a:pt x="202" y="61"/>
                </a:lnTo>
                <a:lnTo>
                  <a:pt x="179" y="69"/>
                </a:lnTo>
                <a:lnTo>
                  <a:pt x="157" y="77"/>
                </a:lnTo>
                <a:lnTo>
                  <a:pt x="135" y="87"/>
                </a:lnTo>
                <a:lnTo>
                  <a:pt x="112" y="97"/>
                </a:lnTo>
                <a:lnTo>
                  <a:pt x="90" y="109"/>
                </a:lnTo>
                <a:lnTo>
                  <a:pt x="67" y="122"/>
                </a:lnTo>
                <a:lnTo>
                  <a:pt x="45" y="137"/>
                </a:lnTo>
                <a:lnTo>
                  <a:pt x="23" y="153"/>
                </a:lnTo>
                <a:lnTo>
                  <a:pt x="0" y="171"/>
                </a:lnTo>
                <a:close/>
              </a:path>
            </a:pathLst>
          </a:custGeom>
          <a:solidFill>
            <a:srgbClr val="5A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81100" y="5715000"/>
            <a:ext cx="4286250" cy="2657475"/>
          </a:xfrm>
          <a:custGeom>
            <a:avLst/>
            <a:gdLst/>
            <a:ahLst/>
            <a:cxnLst/>
            <a:rect l="l" t="t" r="r" b="b"/>
            <a:pathLst>
              <a:path w="450" h="279">
                <a:moveTo>
                  <a:pt x="8" y="279"/>
                </a:moveTo>
                <a:lnTo>
                  <a:pt x="30" y="247"/>
                </a:lnTo>
                <a:lnTo>
                  <a:pt x="52" y="218"/>
                </a:lnTo>
                <a:lnTo>
                  <a:pt x="74" y="193"/>
                </a:lnTo>
                <a:lnTo>
                  <a:pt x="96" y="170"/>
                </a:lnTo>
                <a:lnTo>
                  <a:pt x="118" y="150"/>
                </a:lnTo>
                <a:lnTo>
                  <a:pt x="140" y="132"/>
                </a:lnTo>
                <a:lnTo>
                  <a:pt x="162" y="115"/>
                </a:lnTo>
                <a:lnTo>
                  <a:pt x="185" y="101"/>
                </a:lnTo>
                <a:lnTo>
                  <a:pt x="207" y="88"/>
                </a:lnTo>
                <a:lnTo>
                  <a:pt x="229" y="76"/>
                </a:lnTo>
                <a:lnTo>
                  <a:pt x="251" y="66"/>
                </a:lnTo>
                <a:lnTo>
                  <a:pt x="273" y="56"/>
                </a:lnTo>
                <a:lnTo>
                  <a:pt x="295" y="48"/>
                </a:lnTo>
                <a:lnTo>
                  <a:pt x="317" y="40"/>
                </a:lnTo>
                <a:lnTo>
                  <a:pt x="339" y="33"/>
                </a:lnTo>
                <a:lnTo>
                  <a:pt x="361" y="27"/>
                </a:lnTo>
                <a:lnTo>
                  <a:pt x="384" y="22"/>
                </a:lnTo>
                <a:lnTo>
                  <a:pt x="406" y="17"/>
                </a:lnTo>
                <a:lnTo>
                  <a:pt x="428" y="12"/>
                </a:lnTo>
                <a:lnTo>
                  <a:pt x="450" y="9"/>
                </a:lnTo>
                <a:lnTo>
                  <a:pt x="449" y="0"/>
                </a:lnTo>
                <a:lnTo>
                  <a:pt x="426" y="4"/>
                </a:lnTo>
                <a:lnTo>
                  <a:pt x="404" y="8"/>
                </a:lnTo>
                <a:lnTo>
                  <a:pt x="382" y="13"/>
                </a:lnTo>
                <a:lnTo>
                  <a:pt x="359" y="18"/>
                </a:lnTo>
                <a:lnTo>
                  <a:pt x="337" y="25"/>
                </a:lnTo>
                <a:lnTo>
                  <a:pt x="314" y="31"/>
                </a:lnTo>
                <a:lnTo>
                  <a:pt x="292" y="39"/>
                </a:lnTo>
                <a:lnTo>
                  <a:pt x="270" y="48"/>
                </a:lnTo>
                <a:lnTo>
                  <a:pt x="247" y="57"/>
                </a:lnTo>
                <a:lnTo>
                  <a:pt x="225" y="68"/>
                </a:lnTo>
                <a:lnTo>
                  <a:pt x="202" y="80"/>
                </a:lnTo>
                <a:lnTo>
                  <a:pt x="180" y="93"/>
                </a:lnTo>
                <a:lnTo>
                  <a:pt x="157" y="108"/>
                </a:lnTo>
                <a:lnTo>
                  <a:pt x="135" y="125"/>
                </a:lnTo>
                <a:lnTo>
                  <a:pt x="112" y="143"/>
                </a:lnTo>
                <a:lnTo>
                  <a:pt x="90" y="164"/>
                </a:lnTo>
                <a:lnTo>
                  <a:pt x="67" y="187"/>
                </a:lnTo>
                <a:lnTo>
                  <a:pt x="45" y="213"/>
                </a:lnTo>
                <a:lnTo>
                  <a:pt x="23" y="241"/>
                </a:lnTo>
                <a:lnTo>
                  <a:pt x="0" y="273"/>
                </a:lnTo>
                <a:close/>
              </a:path>
            </a:pathLst>
          </a:cu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19200" y="8343900"/>
            <a:ext cx="7848600" cy="19050"/>
          </a:xfrm>
          <a:prstGeom prst="rect">
            <a:avLst/>
          </a:prstGeom>
          <a:solidFill>
            <a:srgbClr val="3A3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14086" y="5620734"/>
            <a:ext cx="1143000" cy="40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BEF264"/>
                </a:solidFill>
                <a:latin typeface="Space Grotesk"/>
              </a:rPr>
              <a:t>7,6%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3400" y="7143750"/>
            <a:ext cx="914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9BA1AB"/>
                </a:solidFill>
                <a:latin typeface="Space Grotesk"/>
              </a:rPr>
              <a:t>3,9%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8820150"/>
            <a:ext cx="7848600" cy="1190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1">
                <a:solidFill>
                  <a:srgbClr val="BEF264"/>
                </a:solidFill>
                <a:latin typeface="Space Grotesk"/>
              </a:rPr>
              <a:t>2. Motivo pelo qual a média da carteira engana: no agregado tudo parece bem — até a safra ruim fazer aniversário.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10086975"/>
            <a:ext cx="7848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9BA1AB"/>
                </a:solidFill>
                <a:latin typeface="Space Grotesk"/>
              </a:rPr>
              <a:t>→ Salva o verbete. Sai um por semana.</a:t>
            </a:r>
          </a:p>
        </p:txBody>
      </p:sp>
      <p:sp>
        <p:nvSpPr>
          <p:cNvPr id="20" name="Oval 19"/>
          <p:cNvSpPr/>
          <p:nvPr/>
        </p:nvSpPr>
        <p:spPr>
          <a:xfrm>
            <a:off x="1219200" y="11315700"/>
            <a:ext cx="104775" cy="104775"/>
          </a:xfrm>
          <a:prstGeom prst="ellipse">
            <a:avLst/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19200" y="11506200"/>
            <a:ext cx="104775" cy="104775"/>
          </a:xfrm>
          <a:prstGeom prst="ellipse">
            <a:avLst/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409700" y="113157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409700" y="115062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4050" y="11334750"/>
            <a:ext cx="75628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9BA1AB"/>
                </a:solidFill>
                <a:latin typeface="Space Grotesk"/>
              </a:rPr>
              <a:t>Richard Guilherme ·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